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4114800"/>
            <a:ext cx="4572000" cy="36576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-457200"/>
            <a:ext cx="3657600" cy="2743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8229600" cy="73152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389120"/>
            <a:ext cx="8229600" cy="73152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맑은 고딕"/>
              </a:defRPr>
            </a:pPr>
            <a:r>
              <a:t>RummiArena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81C784"/>
                </a:solidFill>
                <a:latin typeface="맑은 고딕"/>
              </a:defRPr>
            </a:pPr>
            <a:r>
              <a:t>프로젝트 종료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F5E9"/>
                </a:solidFill>
                <a:latin typeface="맑은 고딕"/>
              </a:defRPr>
            </a:pPr>
            <a:r>
              <a:t>루미큐브 기반 멀티 LLM 전략 실험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262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1C784"/>
                </a:solidFill>
                <a:latin typeface="맑은 고딕"/>
              </a:defRPr>
            </a:pPr>
            <a:r>
              <a:t>프로젝트 기간: 2026-03-08 ~ 2026-05-10  (63일)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F5E9"/>
                </a:solidFill>
                <a:latin typeface="맑은 고딕"/>
              </a:defRPr>
            </a:pPr>
            <a:r>
              <a:t>팀 구성: 에이전트 13명 | 커밋 750+ | 테스트 2,462건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87878"/>
                </a:solidFill>
                <a:latin typeface="맑은 고딕"/>
              </a:defRPr>
            </a:pPr>
            <a:r>
              <a:t>작성: 애벌레 (프로젝트 오너)  | 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목 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Oval 5"/>
          <p:cNvSpPr/>
          <p:nvPr/>
        </p:nvSpPr>
        <p:spPr>
          <a:xfrm>
            <a:off x="320040" y="1005840"/>
            <a:ext cx="50292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87552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04241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프로젝트 개요 및 팀 구성</a:t>
            </a:r>
          </a:p>
        </p:txBody>
      </p:sp>
      <p:sp>
        <p:nvSpPr>
          <p:cNvPr id="9" name="Oval 8"/>
          <p:cNvSpPr/>
          <p:nvPr/>
        </p:nvSpPr>
        <p:spPr>
          <a:xfrm>
            <a:off x="320040" y="1993392"/>
            <a:ext cx="50292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75104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시스템 아키텍처 및 기술 스택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" y="2980944"/>
            <a:ext cx="50292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962656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175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개발 여정 — Sprint 1~7 + 핫픽스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" y="3968496"/>
            <a:ext cx="50292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50208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050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AI 대전 실험 결과 (LLM 비교)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" y="4956048"/>
            <a:ext cx="50292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937760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99262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UI 아키텍처 — pendingStore SSOT</a:t>
            </a:r>
          </a:p>
        </p:txBody>
      </p:sp>
      <p:sp>
        <p:nvSpPr>
          <p:cNvPr id="21" name="Oval 20"/>
          <p:cNvSpPr/>
          <p:nvPr/>
        </p:nvSpPr>
        <p:spPr>
          <a:xfrm>
            <a:off x="4709160" y="1005840"/>
            <a:ext cx="50292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987552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04241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게임룰 SSOT — 77개 룰 체계</a:t>
            </a:r>
          </a:p>
        </p:txBody>
      </p:sp>
      <p:sp>
        <p:nvSpPr>
          <p:cNvPr id="24" name="Oval 23"/>
          <p:cNvSpPr/>
          <p:nvPr/>
        </p:nvSpPr>
        <p:spPr>
          <a:xfrm>
            <a:off x="4709160" y="1993392"/>
            <a:ext cx="50292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1975104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0299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품질 · 보안 · CI/CD</a:t>
            </a:r>
          </a:p>
        </p:txBody>
      </p:sp>
      <p:sp>
        <p:nvSpPr>
          <p:cNvPr id="27" name="Oval 26"/>
          <p:cNvSpPr/>
          <p:nvPr/>
        </p:nvSpPr>
        <p:spPr>
          <a:xfrm>
            <a:off x="4709160" y="2980944"/>
            <a:ext cx="50292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2962656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0175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운영 환경 및 동시접속 분석</a:t>
            </a:r>
          </a:p>
        </p:txBody>
      </p:sp>
      <p:sp>
        <p:nvSpPr>
          <p:cNvPr id="30" name="Oval 29"/>
          <p:cNvSpPr/>
          <p:nvPr/>
        </p:nvSpPr>
        <p:spPr>
          <a:xfrm>
            <a:off x="4709160" y="3968496"/>
            <a:ext cx="50292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3950208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050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기술 부채 및 향후 과제</a:t>
            </a:r>
          </a:p>
        </p:txBody>
      </p:sp>
      <p:sp>
        <p:nvSpPr>
          <p:cNvPr id="33" name="Oval 32"/>
          <p:cNvSpPr/>
          <p:nvPr/>
        </p:nvSpPr>
        <p:spPr>
          <a:xfrm>
            <a:off x="4709160" y="4956048"/>
            <a:ext cx="50292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4937760"/>
            <a:ext cx="5029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99262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12121"/>
                </a:solidFill>
                <a:latin typeface="맑은 고딕"/>
              </a:defRPr>
            </a:pPr>
            <a:r>
              <a:t>프로젝트 최종 성과 및 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RummiArena — 루미큐브 기반 멀티 LLM 전략 실험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868680"/>
            <a:ext cx="2743200" cy="53949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목적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53312"/>
            <a:ext cx="265176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463040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루미큐브 게임 환경에서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GPT, Claude, DeepSeek,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Ollama(LLaMA) 등 다양한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LLM의 전략 능력을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비교·실험하는 플랫폼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868680"/>
            <a:ext cx="2743200" cy="53949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범위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353312"/>
            <a:ext cx="265176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463040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Human + AI 혼합 2~4인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실시간 멀티플레이 대전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웹 기반 게임 UI + 관리자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K8s 기반 운영 환경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63일 / Sprint 7 + 핫픽스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868680"/>
            <a:ext cx="2743200" cy="53949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성과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53312"/>
            <a:ext cx="265176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커밋 750+  |  문서 110+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테스트 2,462건 통과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AI 최고 place rate 33.3%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LLaMA 로컬 모델 25.6%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맑은 고딕"/>
              </a:defRPr>
            </a:pPr>
            <a:r>
              <a:t>• CI/CD 17/17 ALL 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팀 구성 — 에이전트 13명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60120"/>
            <a:ext cx="2011680" cy="123444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05156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애벌레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52704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프로젝트 오너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960120"/>
            <a:ext cx="2011680" cy="12344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05156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52704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프로젝트 매니저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0016" y="960120"/>
            <a:ext cx="2011680" cy="12344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05156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52704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시스템 설계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12864" y="960120"/>
            <a:ext cx="2011680" cy="12344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105156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go-dev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52704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게임서버 (Go)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2423160"/>
            <a:ext cx="2011680" cy="12344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5146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node-dev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299008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AI 어댑터 (NestJS)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87168" y="2423160"/>
            <a:ext cx="2011680" cy="12344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0" y="25146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frontend-dev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299008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프론트엔드 (Next.js)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0016" y="2423160"/>
            <a:ext cx="2011680" cy="12344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3168" y="25146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frontend-dev-opus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99008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프론트 페어코딩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12864" y="2423160"/>
            <a:ext cx="2011680" cy="12344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6016" y="251460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devops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99008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K8s/CI/CD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886200"/>
            <a:ext cx="2011680" cy="12344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977639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qa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" y="4453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테스트 품질관리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87168" y="3886200"/>
            <a:ext cx="2011680" cy="123444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60320" y="3977639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security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453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보안 엔지니어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0016" y="3886200"/>
            <a:ext cx="2011680" cy="12344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3977639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ai-engineer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4453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LLM 프롬프트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12864" y="3886200"/>
            <a:ext cx="2011680" cy="12344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86016" y="3977639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game-analyst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86016" y="4453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게임룰 SSOT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349240"/>
            <a:ext cx="2011680" cy="123444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5440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designer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" y="591616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UI/UX 설계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시스템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5개 서비스 + Redis + PostgreSQL — Kubernetes 운영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868680"/>
            <a:ext cx="1417320" cy="68580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5E20"/>
                </a:solidFill>
                <a:latin typeface="맑은 고딕"/>
              </a:defRPr>
            </a:pPr>
            <a:r>
              <a:t>👤 사용자</a:t>
            </a:r>
            <a:br/>
            <a:r>
              <a:t>(Browser)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691640"/>
            <a:ext cx="1417320" cy="68580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3736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5E20"/>
                </a:solidFill>
                <a:latin typeface="맑은 고딕"/>
              </a:defRPr>
            </a:pPr>
            <a:r>
              <a:t>👤 관리자</a:t>
            </a:r>
            <a:br/>
            <a:r>
              <a:t>(Browser)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91640" y="1216152"/>
            <a:ext cx="411480" cy="201168"/>
          </a:xfrm>
          <a:prstGeom prst="line">
            <a:avLst/>
          </a:prstGeom>
          <a:ln w="317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91640" y="2039112"/>
            <a:ext cx="411480" cy="182880"/>
          </a:xfrm>
          <a:prstGeom prst="line">
            <a:avLst/>
          </a:prstGeom>
          <a:ln w="317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03120" y="960120"/>
            <a:ext cx="1463040" cy="6858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10058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  <a:br/>
            <a:r>
              <a:t>(Next.js)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1783080"/>
            <a:ext cx="1463040" cy="6858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18288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Admin Panel</a:t>
            </a:r>
            <a:br/>
            <a:r>
              <a:t>(Next.js)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1307592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566160" y="2130552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31920" y="868680"/>
            <a:ext cx="1645920" cy="13716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914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Game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1280160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8F5E9"/>
                </a:solidFill>
                <a:latin typeface="맑은 고딕"/>
              </a:defRPr>
            </a:pPr>
            <a:r>
              <a:t>Go / gin</a:t>
            </a:r>
            <a:br/>
            <a:r>
              <a:t>gorilla/ws</a:t>
            </a:r>
            <a:br/>
            <a:r>
              <a:t>GORM</a:t>
            </a:r>
            <a:br/>
            <a:r>
              <a:t>Game Engine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77840" y="155448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43600" y="914400"/>
            <a:ext cx="1508760" cy="12344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9601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13258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NestJS</a:t>
            </a:r>
            <a:br/>
            <a:r>
              <a:t>TypeScript</a:t>
            </a:r>
            <a:br/>
            <a:r>
              <a:t>Rate Limit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71231" y="868680"/>
            <a:ext cx="1298448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1231" y="89611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GPT-5-mini</a:t>
            </a:r>
            <a:br/>
            <a:r>
              <a:t>(OpenAI)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52360" y="1197864"/>
            <a:ext cx="118871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571231" y="1417319"/>
            <a:ext cx="1298448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71231" y="1444751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DeepSeek</a:t>
            </a:r>
            <a:br/>
            <a:r>
              <a:t>V4-Pro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52360" y="1746504"/>
            <a:ext cx="118871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71231" y="1965960"/>
            <a:ext cx="1298448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1231" y="19933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Claude</a:t>
            </a:r>
            <a:br/>
            <a:r>
              <a:t>Sonnet 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52360" y="2295144"/>
            <a:ext cx="118871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571231" y="2514600"/>
            <a:ext cx="1298448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71231" y="254203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  <a:br/>
            <a:r>
              <a:t>LLaMA 3B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2843784"/>
            <a:ext cx="118871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543800" y="914400"/>
            <a:ext cx="1325880" cy="5943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43800" y="93268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GPT-5-mini</a:t>
            </a:r>
            <a:br/>
            <a:r>
              <a:t>(OpenAI)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52360" y="1207008"/>
            <a:ext cx="9144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543800" y="1627632"/>
            <a:ext cx="1325880" cy="5943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164592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DeepSeek</a:t>
            </a:r>
            <a:br/>
            <a:r>
              <a:t>V4-Pro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452360" y="1920240"/>
            <a:ext cx="9144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543800" y="2340864"/>
            <a:ext cx="1325880" cy="5943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Claude</a:t>
            </a:r>
            <a:br/>
            <a:r>
              <a:t>Sonnet 4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452360" y="2633472"/>
            <a:ext cx="9144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7543800" y="3054096"/>
            <a:ext cx="1325880" cy="5943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30723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  <a:br/>
            <a:r>
              <a:t>LLaMA 3B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452360" y="3346703"/>
            <a:ext cx="9144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57200" y="3657600"/>
            <a:ext cx="2194560" cy="73152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37033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Redis 7</a:t>
            </a:r>
            <a:br/>
            <a:r>
              <a:t>(게임 상태)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26080" y="3657600"/>
            <a:ext cx="2194560" cy="73152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26080" y="37033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PostgreSQL 16</a:t>
            </a:r>
            <a:br/>
            <a:r>
              <a:t>(영속 데이터)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94960" y="3657600"/>
            <a:ext cx="1828800" cy="731520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0" y="3703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Istio</a:t>
            </a:r>
            <a:br/>
            <a:r>
              <a:t>Service Mesh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06640" y="3657600"/>
            <a:ext cx="1463040" cy="731520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3703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ArgoCD</a:t>
            </a:r>
            <a:br/>
            <a:r>
              <a:t>(GitOps)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754880" y="2240280"/>
            <a:ext cx="0" cy="1417320"/>
          </a:xfrm>
          <a:prstGeom prst="line">
            <a:avLst/>
          </a:prstGeom>
          <a:ln w="317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1554480" y="2240280"/>
            <a:ext cx="2926080" cy="1417320"/>
          </a:xfrm>
          <a:prstGeom prst="line">
            <a:avLst/>
          </a:prstGeom>
          <a:ln w="317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74320" y="448056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5E20"/>
                </a:solidFill>
                <a:latin typeface="맑은 고딕"/>
              </a:defRPr>
            </a:pPr>
            <a:r>
              <a:t>K8s (Docker Desktop)  |  Namespace: rummikub  |  7개 서비스 Running  |  Helm 차트 5개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4434840"/>
            <a:ext cx="8686800" cy="36576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89320" y="841248"/>
            <a:ext cx="2926080" cy="5623560"/>
          </a:xfrm>
          <a:prstGeom prst="roundRect">
            <a:avLst/>
          </a:prstGeom>
          <a:solidFill>
            <a:srgbClr val="E2F0D9"/>
          </a:solidFill>
          <a:ln>
            <a:solidFill>
              <a:srgbClr val="E2F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99048" y="950976"/>
            <a:ext cx="2706624" cy="54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핵심 설계 원칙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1. LLM 신뢰 금지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LLM 응답은 반드시 Game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Engine이 유효성 검증.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Invalid → 재시도 3회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→ 강제 드로우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2. AI Adapter 분리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모든 LLM은 동일한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MoveRequest/Response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인터페이스로 통신.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모델 교체 가능.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3. Stateless 서버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게임 상태 = Redis.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Pod 재시작에도 게임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상태 유지.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4. GitOps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GitHub(SSOT) →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GitLab(mirror) →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 ArgoCD → K8s 배포.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Frontend · Backend · AI · Infra ·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868680"/>
            <a:ext cx="2011680" cy="54406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9144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18288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463040"/>
            <a:ext cx="1737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Next.js (React 18)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TailwindCSS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dnd-kit (드래그앤드롭)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Framer Motion (애니메이션)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next-auth (Google OAuth)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868680"/>
            <a:ext cx="2011680" cy="54406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7" y="9144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Backend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1371600"/>
            <a:ext cx="18288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7" y="1463040"/>
            <a:ext cx="1737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Go / gin + gorilla/ws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GORM (PostgreSQL)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NestJS / TypeScript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Redis 7 (Pub/Sub)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JWT 인증 미들웨어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0016" y="868680"/>
            <a:ext cx="2011680" cy="544068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9144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AI /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455" y="1371600"/>
            <a:ext cx="18288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37176" y="1463040"/>
            <a:ext cx="1737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OpenAI gpt-5-mini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Claude Sonnet 4 (thinking)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DeepSeek V4-Pro (thinking)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Ollama qwen2.5:3b (로컬)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프롬프트 v1~v9 진화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12864" y="868680"/>
            <a:ext cx="2011680" cy="544068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3" y="9144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Infra / 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4303" y="1371600"/>
            <a:ext cx="18288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63040"/>
            <a:ext cx="1737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Docker Desktop K8s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Helm 3 + ArgoCD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GitLab CI (17 stages)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Istio Service Mesh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  <a:latin typeface="맑은 고딕"/>
              </a:defRPr>
            </a:pPr>
            <a:r>
              <a:t>• Trivy + SonarQube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개발 여정 — 63일 스프린트 타임라인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49039"/>
            <a:ext cx="8229600" cy="54864"/>
          </a:xfrm>
          <a:prstGeom prst="rect">
            <a:avLst/>
          </a:prstGeom>
          <a:solidFill>
            <a:srgbClr val="78787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960120"/>
            <a:ext cx="914400" cy="86868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966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기반 구축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828800"/>
            <a:ext cx="0" cy="1920239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03-08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~03-24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331720"/>
            <a:ext cx="914400" cy="86868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368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157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AI 캐릭터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103120" y="3200400"/>
            <a:ext cx="0" cy="548639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4592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03-25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~04-04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960120"/>
            <a:ext cx="914400" cy="8686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9966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3441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OAuth/WS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08960" y="1828800"/>
            <a:ext cx="0" cy="1920239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5176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04-05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~04-14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0" y="2331720"/>
            <a:ext cx="914400" cy="8686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2368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27157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보안 P0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114800" y="3200400"/>
            <a:ext cx="0" cy="548639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5760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04-15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~04-22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960120"/>
            <a:ext cx="914400" cy="8686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9966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13441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Rate Limit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0640" y="1828800"/>
            <a:ext cx="0" cy="1920239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344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04-23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~04-30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0" y="2331720"/>
            <a:ext cx="914400" cy="8686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368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27157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재배치 UI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126480" y="3200400"/>
            <a:ext cx="0" cy="548639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05-01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~05-07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960120"/>
            <a:ext cx="914400" cy="86868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9966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S7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3441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마라톤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2320" y="1828800"/>
            <a:ext cx="0" cy="1920239"/>
          </a:xfrm>
          <a:prstGeom prst="line">
            <a:avLst/>
          </a:prstGeom>
          <a:ln w="190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7512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04-25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~05-04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60" y="2331720"/>
            <a:ext cx="914400" cy="86868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0" y="2368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HF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27157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핫픽스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8138160" y="3200400"/>
            <a:ext cx="0" cy="548639"/>
          </a:xfrm>
          <a:prstGeom prst="line">
            <a:avLst/>
          </a:prstGeom>
          <a:ln w="19050">
            <a:solidFill>
              <a:srgbClr val="C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0" y="38404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05-01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4114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87878"/>
                </a:solidFill>
                <a:latin typeface="맑은 고딕"/>
              </a:defRPr>
            </a:pPr>
            <a:r>
              <a:t>~05-10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4320" y="4572000"/>
            <a:ext cx="1554480" cy="5943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46177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750+ 커밋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965960" y="4572000"/>
            <a:ext cx="1554480" cy="5943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65960" y="46177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110+ 문서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0" y="4572000"/>
            <a:ext cx="1554480" cy="59436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0" y="46177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2,462 테스트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49240" y="4572000"/>
            <a:ext cx="1554480" cy="59436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46177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CI/CD 17/17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040880" y="4572000"/>
            <a:ext cx="1554480" cy="5943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0" y="46177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LLM 4종 실험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Sprint 1~4 — 기반 구축부터 보안 강화까지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1440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4206240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926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1  (03-08~03-24)  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Game Engine 핵심 (그룹/런 검증, 초기 용융, 조커)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REST API + WebSocket 구현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K8s 5개 서비스 첫 배포 (Helm)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JWT fail-fast, CVE 7건 수정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91440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9159" y="914400"/>
            <a:ext cx="4206240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599" y="96926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2  (03-25~04-04)  AI 캐릭터 + 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48132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AI 캐릭터 6종 × 3난이도 설계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Turn Orchestrator + ELO 랭킹 시스템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관리자 대시보드 + 연습 모드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첫 LLM 프롬프트 v1 실험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79476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94760"/>
            <a:ext cx="4206240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84962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3  (04-05~04-14)  OAuth + WS 재연결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6168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Google OAuth 2.0 K8s 통합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WebSocket 재연결 + Redis Session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Redis Timer 기반 턴 타임아웃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Istio Service Mesh 도입 (game-server + ai-adapter)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379476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09159" y="3794760"/>
            <a:ext cx="4206240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599" y="384962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4  (04-15~04-22)  보안 P0 + DeepSeek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6168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보안 5건: SQL injection, XSS, Admin API 인증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WebSocket 인증 검증, dev-login 차단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DeepSeek V4-Pro 통합 (23.1% place rate)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비용 한도: 일일 $20 / 시간당 $5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Sprint 5~7 + 핫픽스 — 고도화·마라톤·실측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1440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4206240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926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5  (04-23~04-30)  Rate Limit +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Rate Limiting: REST Sliding Window / WS Fixed Window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CI/CD 17/17 ALL GREEN 달성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DeepSeek N=3 실험: 23.1% 확정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플레이테스트 88.6% 통과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91440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9159" y="914400"/>
            <a:ext cx="4206240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599" y="96926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6  (05-01~05-07)  재배치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48132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dnd-kit 드래그앤드롭 도입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재배치 4유형 UI 구현 (손→보드, 보드→보드 등)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Agent Teams 13명 체제 본격화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핫픽스 4건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79476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94760"/>
            <a:ext cx="4206240" cy="475488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84962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Sprint 7  (04-25~05-04)  마라톤 마감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6168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pendingStore SSOT 아키텍처 (38개 파일, 13개 필드 제거)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게임룰 SSOT 71→77개 룰 확정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SEC-A/B/C 완료 (govulncheck 25→0건)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Phase D: 8.5 Story Point × 1.5시간 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3794760"/>
            <a:ext cx="4206240" cy="2697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09159" y="3794760"/>
            <a:ext cx="4206240" cy="47548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599" y="384962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핫픽스 세션  (05-01~05-10)  실측 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61688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BUG-CONFIRM-001: confirmBusy 영구 잠금 수정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LLaMA v8(15.8%) → v9(25.6%) place rate 달성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V-22 단독 승리 룰, 로비 ELO API 연동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Jest 659 / AI Adapter 637 PASS 최종 확인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AI 대전 실험 결과 — LLM 4종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place rate = 턴당 실제 타일 배치 성공 비율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61287"/>
            <a:ext cx="1645920" cy="304495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813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7D32"/>
                </a:solidFill>
                <a:latin typeface="맑은 고딕"/>
              </a:defRPr>
            </a:pPr>
            <a:r>
              <a:t>33.3%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5196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GPT</a:t>
            </a:r>
            <a:br/>
            <a:r>
              <a:t>gpt-5-mini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78"/>
                </a:solidFill>
                <a:latin typeface="맑은 고딕"/>
              </a:defRPr>
            </a:pPr>
            <a:r>
              <a:t>v2 프롬프트</a:t>
            </a:r>
            <a:br/>
            <a:r>
              <a:t>$0.10/1M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39" y="1289303"/>
            <a:ext cx="1645920" cy="2916936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39" y="94183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맑은 고딕"/>
              </a:defRPr>
            </a:pPr>
            <a:r>
              <a:t>31.9%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425196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DeepSeek</a:t>
            </a:r>
            <a:br/>
            <a:r>
              <a:t>V4-Pro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78"/>
                </a:solidFill>
                <a:latin typeface="맑은 고딕"/>
              </a:defRPr>
            </a:pPr>
            <a:r>
              <a:t>thinking 모드</a:t>
            </a:r>
            <a:br/>
            <a:r>
              <a:t>$0.039/게임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865375"/>
            <a:ext cx="1645920" cy="23408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59" y="1517903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800"/>
                </a:solidFill>
                <a:latin typeface="맑은 고딕"/>
              </a:defRPr>
            </a:pPr>
            <a:r>
              <a:t>25.6%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425196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Ollama</a:t>
            </a:r>
            <a:br/>
            <a:r>
              <a:t>LLaMA 3B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78"/>
                </a:solidFill>
                <a:latin typeface="맑은 고딕"/>
              </a:defRPr>
            </a:pPr>
            <a:r>
              <a:t>로컬 CPU</a:t>
            </a:r>
            <a:br/>
            <a:r>
              <a:t>무료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79" y="2377439"/>
            <a:ext cx="1645920" cy="18288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202996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565C0"/>
                </a:solidFill>
                <a:latin typeface="맑은 고딕"/>
              </a:defRPr>
            </a:pPr>
            <a:r>
              <a:t>20.0%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25196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Claude</a:t>
            </a:r>
            <a:br/>
            <a:r>
              <a:t>Sonnet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78"/>
                </a:solidFill>
                <a:latin typeface="맑은 고딕"/>
              </a:defRPr>
            </a:pPr>
            <a:r>
              <a:t>thinking 모드</a:t>
            </a:r>
            <a:br/>
            <a:r>
              <a:t>$1.11/게임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24528"/>
            <a:ext cx="8412480" cy="45720"/>
          </a:xfrm>
          <a:prstGeom prst="rect">
            <a:avLst/>
          </a:prstGeom>
          <a:solidFill>
            <a:srgbClr val="78787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0040" y="5349240"/>
            <a:ext cx="8503920" cy="10058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5E20"/>
                </a:solidFill>
                <a:latin typeface="맑은 고딕"/>
              </a:defRPr>
            </a:pPr>
            <a:r>
              <a:t>핵심 발견: Thinking 모드가 필수 — V4-Flash(비thinking) 0% vs V4-Pro(thinking) 31.9%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607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비용 대비 성능: DeepSeek $0.039/게임 vs Claude $1.11/게임 (28배 차이, 성능 비슷)  |  LLaMA 로컬 무료 25.6%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841248"/>
            <a:ext cx="2926080" cy="5623560"/>
          </a:xfrm>
          <a:prstGeom prst="roundRect">
            <a:avLst/>
          </a:prstGeom>
          <a:solidFill>
            <a:srgbClr val="E2F0D9"/>
          </a:solidFill>
          <a:ln>
            <a:solidFill>
              <a:srgbClr val="E2F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9048" y="950976"/>
            <a:ext cx="2706624" cy="54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실험 조건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N=3 self-play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(게임 3회 평균)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평가 지표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place rate: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턴당 배치 성공률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fallback: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엔진 거부 후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강제 드로우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GPT v2 고정 이유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v4 프롬프트 실험 결과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reasoning_tokens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-25% 감소(Cohen d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=-1.46). 내부 RLHF가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외부 지시를 무시.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LLaMA 목표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v10에서 30%+ 도전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(ERR_NO_RACK_TILE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수정 시 가능 전망)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LLaMA(Ollama) 프롬프트 진화 — v6→v9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3B 파라미터 CPU 추론 모델에게 루미큐브를 가르친 8주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960120"/>
            <a:ext cx="1005840" cy="1005840"/>
          </a:xfrm>
          <a:prstGeom prst="ellipse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05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v6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1463040"/>
            <a:ext cx="246888" cy="0"/>
          </a:xfrm>
          <a:prstGeom prst="line">
            <a:avLst/>
          </a:prstGeom>
          <a:ln w="25400">
            <a:solidFill>
              <a:srgbClr val="C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79" y="21031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단순 질의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5146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62828"/>
                </a:solidFill>
                <a:latin typeface="맑은 고딕"/>
              </a:defRPr>
            </a:pPr>
            <a: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모델이 단 한 번도</a:t>
            </a:r>
            <a:br/>
            <a:r>
              <a:t>타일을 배치 안 함</a:t>
            </a:r>
          </a:p>
        </p:txBody>
      </p:sp>
      <p:sp>
        <p:nvSpPr>
          <p:cNvPr id="13" name="Oval 12"/>
          <p:cNvSpPr/>
          <p:nvPr/>
        </p:nvSpPr>
        <p:spPr>
          <a:xfrm>
            <a:off x="3035808" y="960120"/>
            <a:ext cx="1005840" cy="1005840"/>
          </a:xfrm>
          <a:prstGeom prst="ellipse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1024128"/>
            <a:ext cx="1005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v7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98848" y="1463040"/>
            <a:ext cx="246888" cy="0"/>
          </a:xfrm>
          <a:prstGeom prst="line">
            <a:avLst/>
          </a:prstGeom>
          <a:ln w="25400">
            <a:solidFill>
              <a:srgbClr val="C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24328" y="21031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배치 판단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4328" y="25146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62828"/>
                </a:solidFill>
                <a:latin typeface="맑은 고딕"/>
              </a:defRPr>
            </a:pPr>
            <a:r>
              <a:t>~5%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4328" y="30632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낮은 성공률</a:t>
            </a:r>
            <a:br/>
            <a:r>
              <a:t>개선 방향 탐색 중</a:t>
            </a:r>
          </a:p>
        </p:txBody>
      </p:sp>
      <p:sp>
        <p:nvSpPr>
          <p:cNvPr id="19" name="Oval 18"/>
          <p:cNvSpPr/>
          <p:nvPr/>
        </p:nvSpPr>
        <p:spPr>
          <a:xfrm>
            <a:off x="5248655" y="960120"/>
            <a:ext cx="1005840" cy="1005840"/>
          </a:xfrm>
          <a:prstGeom prst="ellipse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8655" y="1024128"/>
            <a:ext cx="1005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v8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11696" y="1463040"/>
            <a:ext cx="246887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837175" y="21031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사전 계산 전략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37175" y="25146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9800"/>
                </a:solidFill>
                <a:latin typeface="맑은 고딕"/>
              </a:defRPr>
            </a:pPr>
            <a:r>
              <a:t>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7175" y="30632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가능한 조합 목록화</a:t>
            </a:r>
            <a:br/>
            <a:r>
              <a:t>→ 선택 방식 도입</a:t>
            </a:r>
          </a:p>
        </p:txBody>
      </p:sp>
      <p:sp>
        <p:nvSpPr>
          <p:cNvPr id="25" name="Oval 24"/>
          <p:cNvSpPr/>
          <p:nvPr/>
        </p:nvSpPr>
        <p:spPr>
          <a:xfrm>
            <a:off x="7461504" y="960120"/>
            <a:ext cx="1005840" cy="100584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1504" y="1024128"/>
            <a:ext cx="1005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v9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3" y="21031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ERR 방어+조커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3" y="25146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E7D32"/>
                </a:solidFill>
                <a:latin typeface="맑은 고딕"/>
              </a:defRPr>
            </a:pPr>
            <a:r>
              <a:t>25.6%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0023" y="30632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ERR_NO_RACK_TILE 방어</a:t>
            </a:r>
            <a:br/>
            <a:r>
              <a:t>+ 조커 지원 개선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3977639"/>
            <a:ext cx="5577840" cy="23317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023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20"/>
                </a:solidFill>
                <a:latin typeface="맑은 고딕"/>
              </a:defRPr>
            </a:pPr>
            <a:r>
              <a:t>v8 → v9 핵심 변화 (+9.8%p 향상)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348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ERR_NO_RACK_TILE 방어: AI가 손패에 없는 타일을 제안할 때 즉시 감지·필터링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조커 지원 개선: 조커(JK1/JK2) 포함 조합 제안 능력 향상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결과: G1=25.6%(10/39), G2=28.2%(11/39), G3=23.1%(9/39) — 평균 25.6%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25초 평균 응답 시간 (CPU 추론, 무료 로컬 실행)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9320" y="841248"/>
            <a:ext cx="2926080" cy="5623560"/>
          </a:xfrm>
          <a:prstGeom prst="roundRect">
            <a:avLst/>
          </a:prstGeom>
          <a:solidFill>
            <a:srgbClr val="E2F0D9"/>
          </a:solidFill>
          <a:ln>
            <a:solidFill>
              <a:srgbClr val="E2F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9048" y="950976"/>
            <a:ext cx="2706624" cy="54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실험 철학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"모델이 이해 못 하는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게 아니라 내가 제대로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물어보지 못한 것"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이 믿음이 v7, v8, v9를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만들었다.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v10 GO 조건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ERR_NO_RACK_TILE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완전 수정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G1 T73 오류 제거 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28%+ 가능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조커 확장 지원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하드웨어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LG Gram 15Z90R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i7-1360P / RAM 16GB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WSL2 + Docker Desktop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qwen2.5:3b (3B param)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CPU only 추론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UI 아키텍처 — pendingStore SSOT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Sprint 7 핵심 설계: 38개 파일 영향, 13개 deprecated 필드 제거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0120"/>
            <a:ext cx="5394960" cy="11155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L4  통신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90472"/>
            <a:ext cx="4937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WebSocket / REST API</a:t>
            </a:r>
            <a:br/>
            <a:r>
              <a:t>서버 ↔ 클라이언트 동기화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075688"/>
            <a:ext cx="0" cy="18288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" y="2258568"/>
            <a:ext cx="5394960" cy="111556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3500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L3  도메인 로직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4937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useTurnActions / canConfirmTurn</a:t>
            </a:r>
            <a:br/>
            <a:r>
              <a:t>순수 함수 — 게임 규칙 적용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71800" y="3374135"/>
            <a:ext cx="0" cy="18288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4320" y="3557015"/>
            <a:ext cx="5394960" cy="11155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64845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L2  pendingStore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087368"/>
            <a:ext cx="4937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단일 SSOT — 보드/손패 draft 상태</a:t>
            </a:r>
            <a:br/>
            <a:r>
              <a:t>handleDragEnd 9개 분기 통합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71800" y="4672583"/>
            <a:ext cx="0" cy="182881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4320" y="4855464"/>
            <a:ext cx="5394960" cy="1115568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3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L1  순수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385816"/>
            <a:ext cx="4937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React 컴포넌트 — 상태 구독</a:t>
            </a:r>
            <a:br/>
            <a:r>
              <a:t>표시만, 로직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172200"/>
            <a:ext cx="1389888" cy="47548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199632"/>
            <a:ext cx="13898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38개 파일 수정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55648" y="6172200"/>
            <a:ext cx="1389888" cy="47548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55648" y="6199632"/>
            <a:ext cx="13898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13개 필드 제거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6172200"/>
            <a:ext cx="1389888" cy="475488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6199632"/>
            <a:ext cx="13898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9개 분기 통합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18304" y="6172200"/>
            <a:ext cx="1389888" cy="47548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8304" y="6199632"/>
            <a:ext cx="13898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단일 SSOT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841248"/>
            <a:ext cx="2926080" cy="5623560"/>
          </a:xfrm>
          <a:prstGeom prst="roundRect">
            <a:avLst/>
          </a:prstGeom>
          <a:solidFill>
            <a:srgbClr val="E2F0D9"/>
          </a:solidFill>
          <a:ln>
            <a:solidFill>
              <a:srgbClr val="E2F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9048" y="950976"/>
            <a:ext cx="2706624" cy="54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이전 아키텍처 문제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gameStore + pending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Store 두 곳에 상태 분산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동일 데이터 13개 필드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중복 관리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drag 이벤트 처리 로직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컴포넌트에 혼재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pendingStore 개선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draft 단일 SSOT로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보드+손패 상태 통합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handleDragEnd 9개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분기를 한 곳에서 처리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useTurnActions가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pendingStore 기반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순수 함수로 재설계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핵심 원칙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"상태는 한 곳에서만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관리한다"</a:t>
            </a:r>
          </a:p>
          <a:p>
            <a:pPr>
              <a:spcAft>
                <a:spcPts val="30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= pendingStore.draft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게임룰 SSOT — 77개 룰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55-game-rules-enumeration.md 단일 기준점 — 코드 · 테스트 · UX가 같은 문서를 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2011680" cy="36576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96012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V-  유효성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1732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22개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9968"/>
            <a:ext cx="164592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103120"/>
            <a:ext cx="187451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그룹/런 조건, 초기 용융</a:t>
            </a:r>
            <a:br/>
            <a:r>
              <a:t>30점, 조커 규칙, V-22</a:t>
            </a:r>
            <a:br/>
            <a:r>
              <a:t>단독 승리 룰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8" y="914400"/>
            <a:ext cx="2011680" cy="36576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96012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UR- UI 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41732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40개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2029968"/>
            <a:ext cx="164592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103120"/>
            <a:ext cx="187451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드래그앤드롭 행동 36개</a:t>
            </a:r>
            <a:br/>
            <a:r>
              <a:t>피드백 색상 규칙</a:t>
            </a:r>
            <a:br/>
            <a:r>
              <a:t>타이머 16개 지점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0016" y="914400"/>
            <a:ext cx="2011680" cy="365760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96012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D-  드로우/패널티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141732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9개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82896" y="2029968"/>
            <a:ext cx="164592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2103120"/>
            <a:ext cx="187451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Human=3장, AI=1장</a:t>
            </a:r>
            <a:br/>
            <a:r>
              <a:t>패널티 B안 확정</a:t>
            </a:r>
            <a:br/>
            <a:r>
              <a:t>타임아웃 강제 드로우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2864" y="914400"/>
            <a:ext cx="2011680" cy="36576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6016" y="96012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INV-무효화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141732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6개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5744" y="2029968"/>
            <a:ext cx="164592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2103120"/>
            <a:ext cx="187451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잘못된 배치 무효</a:t>
            </a:r>
            <a:br/>
            <a:r>
              <a:t>ERR_NO_RACK_TILE</a:t>
            </a:r>
            <a:br/>
            <a:r>
              <a:t>재시도 최대 3회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663440"/>
            <a:ext cx="8595360" cy="1691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3659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활성 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749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맑은 고딕"/>
              </a:defRPr>
            </a:pPr>
            <a:r>
              <a:t>77개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473659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결번 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50749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87878"/>
                </a:solidFill>
                <a:latin typeface="맑은 고딕"/>
              </a:defRPr>
            </a:pPr>
            <a:r>
              <a:t>1개 (UR-39 폐기)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5344" y="473659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행동 매트릭스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95344" y="50749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5E20"/>
                </a:solidFill>
                <a:latin typeface="맑은 고딕"/>
              </a:defRPr>
            </a:pPr>
            <a:r>
              <a:t>21개 행동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473659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상태 머신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50749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5E20"/>
                </a:solidFill>
                <a:latin typeface="맑은 고딕"/>
              </a:defRPr>
            </a:pPr>
            <a:r>
              <a:t>12개 상태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33488" y="473659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UX 매핑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33488" y="50749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맑은 고딕"/>
              </a:defRPr>
            </a:pPr>
            <a:r>
              <a:t>43-rule-ux-sync-ssot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23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게임룰 SSOT가 없으면 구현이 사양을 추월한다. 77개 룰은 코드와 문서가 같은 언어로 말하게 하는 장치다.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타임아웃 체인 — 10개 지점 SSOT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부등식 계약: script_ws &gt; gs_ctx &gt; http_client &gt; istio_vs &gt; adapter &gt; llm_vendor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97280"/>
            <a:ext cx="1417320" cy="11887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script_ws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1070s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E2E 테스트</a:t>
            </a:r>
            <a:br/>
            <a:r>
              <a:t>스크립트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91640" y="169164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783080" y="1097280"/>
            <a:ext cx="1417320" cy="11887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gs_ctx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Game Server</a:t>
            </a:r>
            <a:br/>
            <a:r>
              <a:t>Context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169164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91840" y="1097280"/>
            <a:ext cx="1417320" cy="11887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http_client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1060s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HTTP 클라이언트</a:t>
            </a:r>
            <a:br/>
            <a:r>
              <a:t>(Go)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09160" y="169164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097280"/>
            <a:ext cx="1417320" cy="118872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istio_vs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1010s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Istio</a:t>
            </a:r>
            <a:br/>
            <a:r>
              <a:t>VirtualService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0" y="169164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09360" y="1097280"/>
            <a:ext cx="1417320" cy="118872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1000s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  <a:br/>
            <a:r>
              <a:t>내부 한도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726680" y="1691640"/>
            <a:ext cx="3657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89520" y="1097280"/>
            <a:ext cx="1417320" cy="118872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11704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llm_vendor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58191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~900s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96596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맑은 고딕"/>
              </a:defRPr>
            </a:pPr>
            <a:r>
              <a:t>LLM API</a:t>
            </a:r>
            <a:br/>
            <a:r>
              <a:t>(모델별 상이)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2514600"/>
            <a:ext cx="8595360" cy="50292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57860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1070 &gt; 1060 &gt; 1060 &gt; 1010 &gt; 1000 &gt; ~900  →  정상 응답이 fallback으로 오분류되지 않음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3200400"/>
            <a:ext cx="8595360" cy="2331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62828"/>
                </a:solidFill>
                <a:latin typeface="맑은 고딕"/>
              </a:defRPr>
            </a:pPr>
            <a:r>
              <a:t>2026-04-16 사고: 타임아웃 체인 부등식 위반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원인: adapter 내부 한도(700s) &lt; istio_vs(1010s) — 계약 위반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증상: LLM이 정상 응답을 반환했지만 adapter가 먼저 타임아웃 → fallback으로 오분류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조치: adapter 1000s로 상향, 타임아웃 레지스트리 문서(41번) SSOT 확립</a:t>
            </a:r>
          </a:p>
          <a:p>
            <a:pPr>
              <a:spcAft>
                <a:spcPts val="5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교훈: 한 값을 바꿀 때 반드시 10개 지점 전수 체크 (41번 문서 §3+§5)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623560"/>
            <a:ext cx="8595360" cy="6858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68756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SSOT: docs/02-design/41-timeout-chain-breakdown.md  |  ConfigMap: AI_ADAPTER_TIMEOUT_SEC=1000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품질 지표 — 테스트 2,462건 최종 현황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14400"/>
            <a:ext cx="2011680" cy="22860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87552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  <a:br/>
            <a:r>
              <a:t>Jest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50876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7744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914400"/>
            <a:ext cx="2011680" cy="22860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987552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Go 단위</a:t>
            </a:r>
            <a:br/>
            <a:r>
              <a:t>테스트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50876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7744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914400"/>
            <a:ext cx="2011680" cy="22860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987552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  <a:br/>
            <a:r>
              <a:t>(NestJS)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50876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37744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12864" y="914400"/>
            <a:ext cx="2011680" cy="22860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6016" y="987552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E2E</a:t>
            </a:r>
            <a:br/>
            <a:r>
              <a:t>(Playwright)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150876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37744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015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총계: 2,462 PASS  /  0 FAIL  — 63일 전체 기간 FAIL 0건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14800"/>
            <a:ext cx="4160520" cy="21945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160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20"/>
                </a:solidFill>
                <a:latin typeface="맑은 고딕"/>
              </a:defRPr>
            </a:pPr>
            <a:r>
              <a:t>CI/CD 파이프라인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57200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GitLab CI 17 stages — ALL GREEN (Pipeline #113+)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Trivy: Critical/High CVE = 0건 유지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SonarQube: 3개 프로젝트 Quality Gate PASS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Kaniko 빌드 → ArgoCD GitOps 자동 배포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K8s 7개 서비스 Running (rummikub ns)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4114800"/>
            <a:ext cx="4160520" cy="21945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20"/>
                </a:solidFill>
                <a:latin typeface="맑은 고딕"/>
              </a:defRPr>
            </a:pPr>
            <a:r>
              <a:t>보안 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57200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SEC-A: Go 1.25.9 + go-redis v9.7.3 (vuln 25→0)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SEC-B: Rate Limiting 강화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SEC-C: 인증/인가 완전 분리 (OAuth=identity only)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JWT fail-fast, dev-login 차단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Critical/High CVE 63일 내내 0건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K8s 운영 환경 — 현재 배포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namespace: rummikub | 7개 서비스 Running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0120"/>
            <a:ext cx="1371600" cy="6583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8813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1033272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069848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rummikub-frontend:lobby-fix-e7222d0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033272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069848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Next.js 게임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088136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124712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1755648"/>
            <a:ext cx="1371600" cy="65836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8836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60" y="1828800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74519" y="1865376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rummiarena/game-server:day5-8dc0999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1828800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1865376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Go 게임 엔진 + 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883664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920240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2551176"/>
            <a:ext cx="1371600" cy="6583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67919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37360" y="2624328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74519" y="2660904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rummiarena/ai-adapter:v9-ollama-place-8631831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2624328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660904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NestJS LLM 연동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60" y="2679192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2715768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346704"/>
            <a:ext cx="1371600" cy="658368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34747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37360" y="3419856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74519" y="3456432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ollama/ollama:latest (qwen2.5:3b PVC)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89320" y="3419856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3456432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로컬 LLM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3474720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511296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4142232"/>
            <a:ext cx="137160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42702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postgres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4215384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74519" y="4251960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postgres:16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9320" y="4215384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4251960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영속 데이터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66760" y="4270248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4306824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4937759"/>
            <a:ext cx="137160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5065775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37360" y="5010912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19" y="5047488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redis:7-alpine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89320" y="5010912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5047488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게임 상태 캐시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66760" y="5065775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60" y="5102351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4320" y="5733288"/>
            <a:ext cx="1371600" cy="658368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5861303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admin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37360" y="5806440"/>
            <a:ext cx="416052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74519" y="5843016"/>
            <a:ext cx="3977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12121"/>
                </a:solidFill>
                <a:latin typeface="맑은 고딕"/>
              </a:defRPr>
            </a:pPr>
            <a:r>
              <a:t>rummiarena/admin:latest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89320" y="5806440"/>
            <a:ext cx="2286000" cy="512064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60" y="5843016"/>
            <a:ext cx="2148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관리자 대시보드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66760" y="5861303"/>
            <a:ext cx="566928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66760" y="5897879"/>
            <a:ext cx="566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RUN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4320" y="6556248"/>
            <a:ext cx="8595360" cy="3657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6019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ConfigMap: AI_ADAPTER_TIMEOUT_SEC=1000  |  GAME_MAX_TURNS_LIMIT=200  |  Istio VS ai-adapter timeout=1010s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동시접속 분석 — 100~200명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단일 노드(LG Gram) 기준 현실적 한계와 클라우드 확장 방안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4206240" cy="27432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14400"/>
            <a:ext cx="4206240" cy="53035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98755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Human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02412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200명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36192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game-server replicas=3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방당 2~4명 × 50~100방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Redis/Postgres 충분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CPU 병목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914400"/>
            <a:ext cx="4206240" cy="27432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59" y="914400"/>
            <a:ext cx="420624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599" y="987552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98755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API LLM 혼합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102412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10게임 동시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1536192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DeepSeek/GPT 100초 블로킹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비용 제약: ~$0.4/게임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10게임 × 4턴 = 동시 처리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40 LLM 호출/시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840480"/>
            <a:ext cx="4206240" cy="27432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4206240" cy="53035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913632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91363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Ollama 로컬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39502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2~3게임 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62272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CPU 단일 스레드 추론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qwen2.5:3b 25초/턴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동시 처리 불가 (큐잉)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GPU 있으면 10x 향상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840480"/>
            <a:ext cx="4206240" cy="27432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09159" y="3840480"/>
            <a:ext cx="4206240" cy="5303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599" y="3913632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91363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클라우드(GKE)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39502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$180~280/월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4462272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3× game-server pods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GPU node (Ollama)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100~200명 안정 지원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  <a:latin typeface="맑은 고딕"/>
              </a:defRPr>
            </a:pPr>
            <a:r>
              <a:t>• 예상 비용 $180~280/월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기술 부채 — 미해결 항목 및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1C784"/>
                </a:solidFill>
                <a:latin typeface="맑은 고딕"/>
              </a:defRPr>
            </a:pPr>
            <a:r>
              <a:t>프로젝트 종료 시점 식별된 부채 — 다음 버전 착수 시 우선 처리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33272"/>
            <a:ext cx="822960" cy="512064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9848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HIGH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014984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069848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SEC-DEBT-001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014984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next-auth v4→v5 이주 미완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069848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1064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frontend-dev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1965960"/>
            <a:ext cx="822960" cy="512064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002536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1947672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0025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SEC-DEBT-003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947672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WebSocket 인증 토큰 갱신 미구현</a:t>
            </a:r>
            <a:br/>
            <a:r>
              <a:t>(만료된 토큰 사용 가능성)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2002536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03911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go-dev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98648"/>
            <a:ext cx="822960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2935224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2880360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935224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SEC-DEBT-004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880360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Admin API Rate Limiting 미적용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2935224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2971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node-dev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831336"/>
            <a:ext cx="822960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3867912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MED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8720" y="3813048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3867912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SEC-DEBT-005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813048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Refresh Token Rotation 미구현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3867912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9044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go-dev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4764024"/>
            <a:ext cx="822960" cy="51206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800600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88720" y="4745736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4440" y="4800600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P3-3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745736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DndContext GameRoom 이전 미완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0" y="4800600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83717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frontend-dev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696712"/>
            <a:ext cx="822960" cy="512064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5733288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FUTURE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5678423"/>
            <a:ext cx="128016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4440" y="5733288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v10 Ollama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5678423"/>
            <a:ext cx="4434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ERR_NO_RACK_TILE 수정 → 30%+ 목표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0" y="5733288"/>
            <a:ext cx="1645920" cy="43891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78040" y="576986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78"/>
                </a:solidFill>
                <a:latin typeface="맑은 고딕"/>
              </a:defRPr>
            </a:pPr>
            <a:r>
              <a:t>ai-engineer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6556248"/>
            <a:ext cx="8595360" cy="3657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식별된 부채는 반드시 타임라인과 처리 계획이 있어야 한다 — '나중에'는 없다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프로젝트 최종 성과 — 63일의 결산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2940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878"/>
                </a:solidFill>
                <a:latin typeface="맑은 고딕"/>
              </a:defRPr>
            </a:pPr>
            <a:r>
              <a:t>RummiArena — LLM 전략 실험 플랫폼 | 프로젝트 종료 보고서 2026-05-10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14400"/>
            <a:ext cx="2651760" cy="17830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09728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750+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커밋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914400"/>
            <a:ext cx="2651760" cy="17830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09728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110+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914400"/>
            <a:ext cx="2651760" cy="178308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199" y="109728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2,462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199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테스트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926080"/>
            <a:ext cx="2651760" cy="178308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3931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게임룰 SSOT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926080"/>
            <a:ext cx="2651760" cy="178308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3108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33.3%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931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AI 최고 배치율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926080"/>
            <a:ext cx="2651760" cy="17830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199" y="3108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17/17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931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CI/CD 스테이지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029200"/>
            <a:ext cx="8595360" cy="1508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20"/>
                </a:solidFill>
                <a:latin typeface="맑은 고딕"/>
              </a:defRPr>
            </a:pPr>
            <a:r>
              <a:t>이 프로젝트가 증명한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68112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13명의 에이전트가 63일 동안 단일 프로젝트를 완성할 수 있다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3B 파라미터 로컬 LLM도 프롬프트 엔지니어링으로 25.6% 배치율을 달성할 수 있다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  <a:latin typeface="맑은 고딕"/>
              </a:defRPr>
            </a:pPr>
            <a:r>
              <a:t>• 아키텍처 설계가 선행될 때 Phase D처럼 8.5 Story Point를 1.5시간에 처리할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4114800"/>
            <a:ext cx="4572000" cy="36576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C784"/>
                </a:solidFill>
                <a:latin typeface="맑은 고딕"/>
              </a:defRPr>
            </a:pPr>
            <a:r>
              <a:t>RummiArena 프로젝트 종료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691640"/>
            <a:ext cx="6400800" cy="54864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F5E9"/>
                </a:solidFill>
                <a:latin typeface="맑은 고딕"/>
              </a:defRPr>
            </a:pPr>
            <a:r>
              <a:t>2026-03-08 ~ 2026-05-10  (63일)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13명의 에이전트가 함께 달렸습니다.</a:t>
            </a:r>
            <a:br/>
            <a:r>
              <a:t>archinect의 설계력, go-dev의 안정성, frontend-dev의 실행력,</a:t>
            </a:r>
            <a:br/>
            <a:r>
              <a:t>qa의 의심, ai-engineer의 끈기, 그리고 모든 팀원의 헌신이</a:t>
            </a:r>
            <a:br/>
            <a:r>
              <a:t>750+ 커밋과 2,462 테스트를 만들었습니다.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931920"/>
            <a:ext cx="6400800" cy="54864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1C784"/>
                </a:solidFill>
                <a:latin typeface="맑은 고딕"/>
              </a:defRPr>
            </a:pPr>
            <a:r>
              <a:t>"계획은 실행 시작 전까지만 유효하다"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1C784"/>
                </a:solidFill>
                <a:latin typeface="맑은 고딕"/>
              </a:defRPr>
            </a:pPr>
            <a:r>
              <a:t>"Merge Gate는 속도를 늦추지 않는다"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1C784"/>
                </a:solidFill>
                <a:latin typeface="맑은 고딕"/>
              </a:defRPr>
            </a:pPr>
            <a:r>
              <a:t>"데일리 로그와 세션 로그가 기억을 대체한다"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8F5E9"/>
                </a:solidFill>
                <a:latin typeface="맑은 고딕"/>
              </a:defRPr>
            </a:pPr>
            <a:r>
              <a:t>— pm 최종 회고 中 —  RummiArena 2026-05-10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6858000" y="0"/>
            <a:ext cx="457200" cy="6858000"/>
          </a:xfrm>
          <a:prstGeom prst="parallelogram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406640" y="0"/>
            <a:ext cx="457200" cy="6858000"/>
          </a:xfrm>
          <a:prstGeom prst="parallelogram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7955279" y="0"/>
            <a:ext cx="457200" cy="6858000"/>
          </a:xfrm>
          <a:prstGeom prst="parallelogram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8503920" y="0"/>
            <a:ext cx="457200" cy="6858000"/>
          </a:xfrm>
          <a:prstGeom prst="parallelogram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9052560" y="0"/>
            <a:ext cx="457200" cy="6858000"/>
          </a:xfrm>
          <a:prstGeom prst="parallelogram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60320"/>
            <a:ext cx="8229600" cy="7315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0058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81C784"/>
                </a:solidFill>
                <a:latin typeface="맑은 고딕"/>
              </a:defRPr>
            </a:pPr>
            <a:r>
              <a:t>【별첨】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FFFFF"/>
                </a:solidFill>
                <a:latin typeface="맑은 고딕"/>
              </a:defRPr>
            </a:pPr>
            <a:r>
              <a:t>RummiArena 운영 이관 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81C784"/>
                </a:solidFill>
                <a:latin typeface="맑은 고딕"/>
              </a:defRPr>
            </a:pPr>
            <a:r>
              <a:t>Operations Handover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F5E9"/>
                </a:solidFill>
                <a:latin typeface="맑은 고딕"/>
              </a:defRPr>
            </a:pPr>
            <a:r>
              <a:t>현재 운영 환경 현황 · 이관 절차 · 장애 대응 · 스케일링 방안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6400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  현재 운영 환경 아키텍처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A-2  K8s 서비스 구조도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A-3  GitOps 배포 파이프라인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A-4  서비스 시작 순서 (의존성)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A-5  시크릿 관리 구조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A-6  일상 운영 절차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A-7  장애 대응 플로우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A-8  장애 유형별 대응 (1/2)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A-9  장애 유형별 대응 (2/2)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A-10 배포 절차 (GitOps/수동/롤백)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A-11 스케일링 전략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A-12 클라우드 이관 아키텍처 (GKE)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A-13 이관 전 체크리스트</a:t>
            </a:r>
          </a:p>
          <a:p>
            <a:pPr>
              <a:spcAft>
                <a:spcPts val="100"/>
              </a:spcAft>
              <a:defRPr sz="1100">
                <a:solidFill>
                  <a:srgbClr val="E8F5E9"/>
                </a:solidFill>
                <a:latin typeface="맑은 고딕"/>
              </a:defRPr>
            </a:pPr>
            <a:r>
              <a:t>A-14 이관 후 검증 절차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  현재 운영 환경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Windows 11 + WSL2 + Docker Desktop K8s (단일 노드)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868680"/>
            <a:ext cx="8686800" cy="5669280"/>
          </a:xfrm>
          <a:prstGeom prst="roundRect">
            <a:avLst/>
          </a:prstGeom>
          <a:solidFill>
            <a:srgbClr val="C8C8C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886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Windows 11 Host (LG Gram 15Z90R · i7-1360P · RAM 16GB · SSD)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8321040" cy="5212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207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2E7D32"/>
                </a:solidFill>
                <a:latin typeface="맑은 고딕"/>
              </a:defRPr>
            </a:pPr>
            <a:r>
              <a:t>WSL2 (Ubuntu 22.04 · 메모리 10GB)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508760"/>
            <a:ext cx="7955279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52704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1">
                <a:solidFill>
                  <a:srgbClr val="1B5E20"/>
                </a:solidFill>
                <a:latin typeface="맑은 고딕"/>
              </a:defRPr>
            </a:pPr>
            <a:r>
              <a:t>Docker Desktop K8s  |  namespace: rummikub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2103120"/>
            <a:ext cx="1097280" cy="59436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" y="21488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B5E20"/>
                </a:solidFill>
                <a:latin typeface="맑은 고딕"/>
              </a:defRPr>
            </a:pPr>
            <a:r>
              <a:t>사용자</a:t>
            </a:r>
            <a:br/>
            <a:r>
              <a:t>Browser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2880360"/>
            <a:ext cx="1097280" cy="594360"/>
          </a:xfrm>
          <a:prstGeom prst="roundRect">
            <a:avLst/>
          </a:prstGeom>
          <a:solidFill>
            <a:srgbClr val="81C78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" y="2926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B5E20"/>
                </a:solidFill>
                <a:latin typeface="맑은 고딕"/>
              </a:defRPr>
            </a:pPr>
            <a:r>
              <a:t>관리자</a:t>
            </a:r>
            <a:br/>
            <a:r>
              <a:t>Browser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2011680"/>
            <a:ext cx="1280160" cy="12801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2084831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Traefik</a:t>
            </a:r>
            <a:br/>
            <a:r>
              <a:t>Ingress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542032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E8F5E9"/>
                </a:solidFill>
                <a:latin typeface="맑은 고딕"/>
              </a:defRPr>
            </a:pPr>
            <a:r>
              <a:t>:30000</a:t>
            </a:r>
            <a:br/>
            <a:r>
              <a:t>:30001</a:t>
            </a:r>
            <a:br/>
            <a:r>
              <a:t>:30080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34440" y="2404872"/>
            <a:ext cx="182880" cy="0"/>
          </a:xfrm>
          <a:prstGeom prst="line">
            <a:avLst/>
          </a:prstGeom>
          <a:ln w="317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34440" y="2926080"/>
            <a:ext cx="182880" cy="256032"/>
          </a:xfrm>
          <a:prstGeom prst="line">
            <a:avLst/>
          </a:prstGeom>
          <a:ln w="317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926080" y="1874519"/>
            <a:ext cx="1371600" cy="6858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0" y="19202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  <a:br/>
            <a:r>
              <a:t>Next.js :3000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2697480"/>
            <a:ext cx="1371600" cy="6858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0" y="27432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Admin</a:t>
            </a:r>
            <a:br/>
            <a:r>
              <a:t>Next.js :3001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97480" y="2212848"/>
            <a:ext cx="22860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697480" y="3044952"/>
            <a:ext cx="22860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0" y="1783080"/>
            <a:ext cx="1554480" cy="13716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1847088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Game Server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212848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Go / gin</a:t>
            </a:r>
            <a:br/>
            <a:r>
              <a:t>gorilla/ws</a:t>
            </a:r>
            <a:br/>
            <a:r>
              <a:t>:8080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97680" y="2212848"/>
            <a:ext cx="27432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297680" y="2944368"/>
            <a:ext cx="274320" cy="100584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0" y="1920240"/>
            <a:ext cx="1417320" cy="11887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98424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331720"/>
            <a:ext cx="1417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맑은 고딕"/>
              </a:defRPr>
            </a:pPr>
            <a:r>
              <a:t>NestJS</a:t>
            </a:r>
            <a:br/>
            <a:r>
              <a:t>:3001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126480" y="2468880"/>
            <a:ext cx="27432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046720" y="1783080"/>
            <a:ext cx="1051560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1819656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FFFFFF"/>
                </a:solidFill>
                <a:latin typeface="맑은 고딕"/>
              </a:defRPr>
            </a:pPr>
            <a:r>
              <a:t>OpenAI</a:t>
            </a:r>
            <a:br/>
            <a:r>
              <a:t>GPT-5-mini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2057400"/>
            <a:ext cx="22860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46720" y="2468880"/>
            <a:ext cx="1051560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2505456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FFFFFF"/>
                </a:solidFill>
                <a:latin typeface="맑은 고딕"/>
              </a:defRPr>
            </a:pPr>
            <a:r>
              <a:t>DeepSeek</a:t>
            </a:r>
            <a:br/>
            <a:r>
              <a:t>V4-Pro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818120" y="2743200"/>
            <a:ext cx="22860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046720" y="3154680"/>
            <a:ext cx="1051560" cy="54864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3191256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FFFFFF"/>
                </a:solidFill>
                <a:latin typeface="맑은 고딕"/>
              </a:defRPr>
            </a:pPr>
            <a:r>
              <a:t>Claude</a:t>
            </a:r>
            <a:br/>
            <a:r>
              <a:t>Sonnet 4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818120" y="3429000"/>
            <a:ext cx="228600" cy="0"/>
          </a:xfrm>
          <a:prstGeom prst="line">
            <a:avLst/>
          </a:prstGeom>
          <a:ln w="19050">
            <a:solidFill>
              <a:srgbClr val="81C7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37960" y="3383280"/>
            <a:ext cx="2194560" cy="685800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342900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B5E20"/>
                </a:solidFill>
                <a:latin typeface="맑은 고딕"/>
              </a:defRPr>
            </a:pPr>
            <a:r>
              <a:t>Ollama (K8s Pod)</a:t>
            </a:r>
            <a:br/>
            <a:r>
              <a:t>qwen2.5:3b  CPU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967728" y="3108960"/>
            <a:ext cx="0" cy="27432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14400" y="4343400"/>
            <a:ext cx="2011680" cy="74980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389120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FFFFFF"/>
                </a:solidFill>
                <a:latin typeface="맑은 고딕"/>
              </a:defRPr>
            </a:pPr>
            <a:r>
              <a:t>Redis 7</a:t>
            </a:r>
            <a:br/>
            <a:r>
              <a:t>게임 상태 · 세션</a:t>
            </a:r>
            <a:br/>
            <a:r>
              <a:t>:6379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1840" y="4343400"/>
            <a:ext cx="2011680" cy="74980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1840" y="4389120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FFFFFF"/>
                </a:solidFill>
                <a:latin typeface="맑은 고딕"/>
              </a:defRPr>
            </a:pPr>
            <a:r>
              <a:t>PostgreSQL 16</a:t>
            </a:r>
            <a:br/>
            <a:r>
              <a:t>영속 데이터 (ELO 등)</a:t>
            </a:r>
            <a:br/>
            <a:r>
              <a:t>:5432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0" y="4343400"/>
            <a:ext cx="1828800" cy="749808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0" y="438912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FFFFFF"/>
                </a:solidFill>
                <a:latin typeface="맑은 고딕"/>
              </a:defRPr>
            </a:pPr>
            <a:r>
              <a:t>Istio Sidecar</a:t>
            </a:r>
            <a:br/>
            <a:r>
              <a:t>game-server</a:t>
            </a:r>
            <a:br/>
            <a:r>
              <a:t>ai-adapter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26679" y="4343400"/>
            <a:ext cx="1143000" cy="749808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26679" y="4389120"/>
            <a:ext cx="1143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FFFFFF"/>
                </a:solidFill>
                <a:latin typeface="맑은 고딕"/>
              </a:defRPr>
            </a:pPr>
            <a:r>
              <a:t>ArgoCD</a:t>
            </a:r>
            <a:br/>
            <a:r>
              <a:t>GitOps</a:t>
            </a:r>
            <a:br/>
            <a:r>
              <a:t>:8080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349240" y="3154680"/>
            <a:ext cx="0" cy="1188720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920240" y="3154680"/>
            <a:ext cx="3246120" cy="1188720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94360" y="5486400"/>
            <a:ext cx="7955279" cy="3200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5138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NodePort: 30000(FE) · 30001(Admin) · 30080(GS) · 30081(AI) · 30432(PG)  |  Helm 차트 5개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A-2  K8s 서비스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namespace: rummikub  |  Deployment · Service · PVC · ConfigMap · Secret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850392"/>
            <a:ext cx="228600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8686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850392"/>
            <a:ext cx="237744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868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Service (NodePort)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850392"/>
            <a:ext cx="169164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86868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Volume/Secret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850392"/>
            <a:ext cx="214884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86868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이미지 태그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1371600"/>
            <a:ext cx="2286000" cy="6583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417320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06040" y="1371600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80" y="1417320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:3000</a:t>
            </a:r>
            <a:br/>
            <a:r>
              <a:t>NodePort 30000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371600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072" y="1417320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Secret: nextauth</a:t>
            </a:r>
            <a:br/>
            <a:r>
              <a:t>google-oauth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371600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1417320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lobby-fix-e7222d0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5128" y="1490472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79408" y="1490472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2139696"/>
            <a:ext cx="2286000" cy="65836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2185416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admin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2139696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97480" y="2185416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:3001</a:t>
            </a:r>
            <a:br/>
            <a:r>
              <a:t>NodePort 30001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2139696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2185416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Secret: nextauth</a:t>
            </a:r>
            <a:br/>
            <a:r>
              <a:t>google-oauth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2139696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2185416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latest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5128" y="2258568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79408" y="2258568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2907791"/>
            <a:ext cx="2286000" cy="65836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2953512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06040" y="2907791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2953512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:8080</a:t>
            </a:r>
            <a:br/>
            <a:r>
              <a:t>NodePort 30080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2907791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8072" y="2953512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ConfigMap: main</a:t>
            </a:r>
            <a:br/>
            <a:r>
              <a:t>Secret: db, llm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2907791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31152" y="2953512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day5-8dc0999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5128" y="3026664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979408" y="3026664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56032" y="3675887"/>
            <a:ext cx="2286000" cy="6583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3721607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06040" y="3675887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97480" y="3721607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:3001</a:t>
            </a:r>
            <a:br/>
            <a:r>
              <a:t>NodePort 30081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74920" y="3675887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48072" y="3721607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ConfigMap: main</a:t>
            </a:r>
            <a:br/>
            <a:r>
              <a:t>Secret: llm-api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0" y="3675887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31152" y="3721607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v9-ollama-place-8631831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25128" y="3794759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79408" y="3794759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6032" y="4443983"/>
            <a:ext cx="228600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4489703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postgres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06040" y="4443983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97480" y="4489703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:5432</a:t>
            </a:r>
            <a:br/>
            <a:r>
              <a:t>NodePort 30432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74920" y="4443983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8072" y="4489703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PVC: 5Gi</a:t>
            </a:r>
            <a:br/>
            <a:r>
              <a:t>Secret: db-secret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0" y="4443983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31152" y="4489703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postgres:16-alpine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25128" y="4562855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979408" y="4562855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56032" y="5212080"/>
            <a:ext cx="228600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5257800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606040" y="5212080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97480" y="5257800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:6379</a:t>
            </a:r>
            <a:br/>
            <a:r>
              <a:t>(내부 전용)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5212080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48072" y="5257800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PVC: 1Gi</a:t>
            </a:r>
            <a:br/>
            <a:r>
              <a:t>(선택)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58000" y="5212080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31152" y="5257800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redis:7-alpine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25128" y="5330952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979408" y="5330952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56032" y="5980176"/>
            <a:ext cx="2286000" cy="658368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7472" y="6025896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606040" y="5980176"/>
            <a:ext cx="2377440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97480" y="6025896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ClusterIP :11434</a:t>
            </a:r>
            <a:br/>
            <a:r>
              <a:t>(내부 전용)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74920" y="5980176"/>
            <a:ext cx="16916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48072" y="6025896"/>
            <a:ext cx="1545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PVC: 10Gi</a:t>
            </a:r>
            <a:br/>
            <a:r>
              <a:t>(모델 파일)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58000" y="5980176"/>
            <a:ext cx="2148840" cy="6583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31152" y="6025896"/>
            <a:ext cx="20025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1565C0"/>
                </a:solidFill>
                <a:latin typeface="맑은 고딕"/>
              </a:defRPr>
            </a:pPr>
            <a:r>
              <a:t>ollama/ollama:latest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25128" y="6099048"/>
            <a:ext cx="73152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979408" y="6099048"/>
            <a:ext cx="13716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228600" y="6565392"/>
            <a:ext cx="8732520" cy="3657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6601968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ConfigMap: AI_ADAPTER_TIMEOUT_SEC=1000  GAME_MAX_TURNS_LIMIT=200  OLLAMA_PROMPT_VARIANT=v9-ollama-place  USE_V2_PROMPT=true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A-3  GitOps 배포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코드 변경 → GitHub(SSOT) → GitLab(Mirror) → CI 17단계 → ArgoCD → K8s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850392"/>
            <a:ext cx="8732520" cy="107899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9052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1">
                <a:solidFill>
                  <a:srgbClr val="2E7D32"/>
                </a:solidFill>
                <a:latin typeface="맑은 고딕"/>
              </a:defRPr>
            </a:pPr>
            <a:r>
              <a:t>개발자 (애벌레)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1965960"/>
            <a:ext cx="8732520" cy="10789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20208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1">
                <a:solidFill>
                  <a:srgbClr val="1565C0"/>
                </a:solidFill>
                <a:latin typeface="맑은 고딕"/>
              </a:defRPr>
            </a:pPr>
            <a:r>
              <a:t>GitHub (SSOT)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3063240"/>
            <a:ext cx="8732520" cy="214884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1">
                <a:solidFill>
                  <a:srgbClr val="F57F17"/>
                </a:solidFill>
                <a:latin typeface="맑은 고딕"/>
              </a:defRPr>
            </a:pPr>
            <a:r>
              <a:t>GitLab CI (17 Stages)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" y="5212080"/>
            <a:ext cx="873252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5266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1">
                <a:solidFill>
                  <a:srgbClr val="1B5E20"/>
                </a:solidFill>
                <a:latin typeface="맑은 고딕"/>
              </a:defRPr>
            </a:pPr>
            <a:r>
              <a:t>ArgoCD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6172200"/>
            <a:ext cx="8732520" cy="7772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622706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1">
                <a:solidFill>
                  <a:srgbClr val="2E7D32"/>
                </a:solidFill>
                <a:latin typeface="맑은 고딕"/>
              </a:defRPr>
            </a:pPr>
            <a:r>
              <a:t>K8s Cluster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932688"/>
            <a:ext cx="1280160" cy="7315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1024128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git push</a:t>
            </a:r>
            <a:br/>
            <a:r>
              <a:t>origin main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2048256"/>
            <a:ext cx="1280160" cy="73152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2139696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GitHub</a:t>
            </a:r>
            <a:br/>
            <a:r>
              <a:t>SSO Pull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2048256"/>
            <a:ext cx="1645920" cy="73152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139696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GitLab Mirror</a:t>
            </a:r>
            <a:br/>
            <a:r>
              <a:t>(자동 동기화)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3246120"/>
            <a:ext cx="1143000" cy="713232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3337560"/>
            <a:ext cx="1143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lint</a:t>
            </a:r>
            <a:br/>
            <a:r>
              <a:t>test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3246120"/>
            <a:ext cx="1143000" cy="713232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3337560"/>
            <a:ext cx="1143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build</a:t>
            </a:r>
            <a:br/>
            <a:r>
              <a:t>(Kaniko)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3246120"/>
            <a:ext cx="1143000" cy="713232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3337560"/>
            <a:ext cx="1143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scan</a:t>
            </a:r>
            <a:br/>
            <a:r>
              <a:t>Trivy+SQ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0" y="3246120"/>
            <a:ext cx="1143000" cy="713232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3337560"/>
            <a:ext cx="1143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deploy</a:t>
            </a:r>
            <a:br/>
            <a:r>
              <a:t>Helm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3246120"/>
            <a:ext cx="1143000" cy="713232"/>
          </a:xfrm>
          <a:prstGeom prst="roundRect">
            <a:avLst/>
          </a:prstGeom>
          <a:solidFill>
            <a:srgbClr val="F57F17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3337560"/>
            <a:ext cx="1143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verify</a:t>
            </a:r>
            <a:br/>
            <a:r>
              <a:t>E2E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514600" y="3602736"/>
            <a:ext cx="228600" cy="0"/>
          </a:xfrm>
          <a:prstGeom prst="line">
            <a:avLst/>
          </a:prstGeom>
          <a:ln w="2540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886200" y="3602736"/>
            <a:ext cx="228600" cy="0"/>
          </a:xfrm>
          <a:prstGeom prst="line">
            <a:avLst/>
          </a:prstGeom>
          <a:ln w="2540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257800" y="3602736"/>
            <a:ext cx="228600" cy="0"/>
          </a:xfrm>
          <a:prstGeom prst="line">
            <a:avLst/>
          </a:prstGeom>
          <a:ln w="2540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29400" y="3602736"/>
            <a:ext cx="228600" cy="0"/>
          </a:xfrm>
          <a:prstGeom prst="line">
            <a:avLst/>
          </a:prstGeom>
          <a:ln w="2540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779776"/>
            <a:ext cx="0" cy="466344"/>
          </a:xfrm>
          <a:prstGeom prst="line">
            <a:avLst/>
          </a:prstGeom>
          <a:ln w="25400">
            <a:solidFill>
              <a:srgbClr val="F57F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51760" y="2404872"/>
            <a:ext cx="182880" cy="0"/>
          </a:xfrm>
          <a:prstGeom prst="line">
            <a:avLst/>
          </a:prstGeom>
          <a:ln w="2540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14800" y="2404872"/>
            <a:ext cx="457200" cy="0"/>
          </a:xfrm>
          <a:prstGeom prst="line">
            <a:avLst/>
          </a:prstGeom>
          <a:ln w="2540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51760" y="1298448"/>
            <a:ext cx="182880" cy="914400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00400" y="5303520"/>
            <a:ext cx="1828800" cy="6400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0" y="5394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ArgoCD</a:t>
            </a:r>
            <a:br/>
            <a:r>
              <a:t>(Helm sync)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001000" y="3959352"/>
            <a:ext cx="0" cy="886968"/>
          </a:xfrm>
          <a:prstGeom prst="line">
            <a:avLst/>
          </a:prstGeom>
          <a:ln w="2540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029200" y="4846320"/>
            <a:ext cx="2971800" cy="777240"/>
          </a:xfrm>
          <a:prstGeom prst="line">
            <a:avLst/>
          </a:prstGeom>
          <a:ln w="2540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828800" y="6245352"/>
            <a:ext cx="5029200" cy="5029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0" y="6291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K8s Deployments  →  롤링 업데이트  →  헬스체크 통과  →  완료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114800" y="5943600"/>
            <a:ext cx="0" cy="301752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989320" y="841248"/>
            <a:ext cx="2926080" cy="5577840"/>
          </a:xfrm>
          <a:prstGeom prst="roundRect">
            <a:avLst/>
          </a:prstGeom>
          <a:solidFill>
            <a:srgbClr val="E2F0D9"/>
          </a:solidFill>
          <a:ln>
            <a:solidFill>
              <a:srgbClr val="E2F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9048" y="950976"/>
            <a:ext cx="2706624" cy="5358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CI 17단계 요약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1. Static Analysis (lint)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2. Unit Test (Go/Jest)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3. Integration Test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4. Build (Kaniko)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5. Trivy 보안 스캔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6. SonarQube 품질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7. Helm template 검증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8. K8s 배포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9~17. E2E, 성능, 알림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25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GitOps 원칙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GitHub = 단일 SSOT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GitLab = CI 실행 미러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ArgoCD = 배포 게이트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• 수동 kubectl apply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  = 금지 (긴급 시 예외)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250"/>
              </a:spcAft>
              <a:defRPr sz="1000" b="1">
                <a:solidFill>
                  <a:srgbClr val="1B5E20"/>
                </a:solidFill>
                <a:latin typeface="맑은 고딕"/>
              </a:defRPr>
            </a:pPr>
            <a:r>
              <a:t>■ 롤백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kubectl rollout undo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deployment/{svc}</a:t>
            </a:r>
          </a:p>
          <a:p>
            <a:pPr>
              <a:spcAft>
                <a:spcPts val="250"/>
              </a:spcAft>
              <a:defRPr sz="950">
                <a:solidFill>
                  <a:srgbClr val="212121"/>
                </a:solidFill>
                <a:latin typeface="맑은 고딕"/>
              </a:defRPr>
            </a:pPr>
            <a:r>
              <a:t>-n rummikub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A-4  서비스 시작 순서 — 의존성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DB → Cache → LLM → Backend → Frontend 순서 준수 (역순 종료)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987552"/>
            <a:ext cx="548640" cy="457200"/>
          </a:xfrm>
          <a:prstGeom prst="ellipse">
            <a:avLst/>
          </a:prstGeom>
          <a:solidFill>
            <a:srgbClr val="1565C0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" y="1481328"/>
            <a:ext cx="1060704" cy="9144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PostgreSQL</a:t>
            </a:r>
            <a:br/>
            <a:r>
              <a:t>(DB 레이어)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:5432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postgres</a:t>
            </a:r>
            <a:br/>
            <a:r>
              <a:t>대기 30초 + wait pod ready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53312" y="1938528"/>
            <a:ext cx="128016" cy="0"/>
          </a:xfrm>
          <a:prstGeom prst="line">
            <a:avLst/>
          </a:prstGeom>
          <a:ln w="2540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755648" y="987552"/>
            <a:ext cx="548640" cy="457200"/>
          </a:xfrm>
          <a:prstGeom prst="ellipse">
            <a:avLst/>
          </a:prstGeom>
          <a:solidFill>
            <a:srgbClr val="1565C0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5648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17904" y="1481328"/>
            <a:ext cx="1060704" cy="9144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  <a:br/>
            <a:r>
              <a:t>(캐시 레이어)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:6379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redis</a:t>
            </a:r>
            <a:br/>
            <a:r>
              <a:t>wait pod ready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78608" y="1938528"/>
            <a:ext cx="128016" cy="0"/>
          </a:xfrm>
          <a:prstGeom prst="line">
            <a:avLst/>
          </a:prstGeom>
          <a:ln w="2540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980944" y="987552"/>
            <a:ext cx="548640" cy="457200"/>
          </a:xfrm>
          <a:prstGeom prst="ellipse">
            <a:avLst/>
          </a:prstGeom>
          <a:solidFill>
            <a:srgbClr val="B46400"/>
          </a:solidFill>
          <a:ln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80944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1481328"/>
            <a:ext cx="1060704" cy="914400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  <a:br/>
            <a:r>
              <a:t>(로컬 LLM)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:11434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ollama</a:t>
            </a:r>
            <a:br/>
            <a:r>
              <a:t>대기 60초 + 모델 pull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03904" y="1938528"/>
            <a:ext cx="128016" cy="0"/>
          </a:xfrm>
          <a:prstGeom prst="line">
            <a:avLst/>
          </a:prstGeom>
          <a:ln w="2540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206240" y="987552"/>
            <a:ext cx="54864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68496" y="1481328"/>
            <a:ext cx="1060704" cy="9144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Game Server</a:t>
            </a:r>
            <a:br/>
            <a:r>
              <a:t>(백엔드)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8496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:8080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game-server</a:t>
            </a:r>
            <a:br/>
            <a:r>
              <a:t>AutoMigrate DB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0" y="1938528"/>
            <a:ext cx="128016" cy="0"/>
          </a:xfrm>
          <a:prstGeom prst="line">
            <a:avLst/>
          </a:prstGeom>
          <a:ln w="2540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431536" y="987552"/>
            <a:ext cx="54864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31536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93792" y="1481328"/>
            <a:ext cx="1060704" cy="9144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3792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  <a:br/>
            <a:r>
              <a:t>(LLM 브릿지)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:3001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3792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ai-adapter</a:t>
            </a:r>
            <a:br/>
            <a:r>
              <a:t>LLM 키 확인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54496" y="1938528"/>
            <a:ext cx="128016" cy="0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656832" y="987552"/>
            <a:ext cx="548640" cy="4572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19088" y="1481328"/>
            <a:ext cx="1060704" cy="9144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  <a:br/>
            <a:r>
              <a:t>(웹 UI)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:3000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frontend</a:t>
            </a:r>
            <a:br/>
            <a:r>
              <a:t>브라우저 접속 가능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479792" y="1938528"/>
            <a:ext cx="128016" cy="0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882128" y="987552"/>
            <a:ext cx="548640" cy="45720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8" y="1005839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44383" y="1481328"/>
            <a:ext cx="1060704" cy="9144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44383" y="1536192"/>
            <a:ext cx="1060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Admin</a:t>
            </a:r>
            <a:br/>
            <a:r>
              <a:t>(관리 UI)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44383" y="2011680"/>
            <a:ext cx="10607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E8F5E9"/>
                </a:solidFill>
                <a:latin typeface="맑은 고딕"/>
              </a:defRPr>
            </a:pPr>
            <a:r>
              <a:t>:3001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44383" y="2514600"/>
            <a:ext cx="10607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helm install admin</a:t>
            </a:r>
            <a:br/>
            <a:r>
              <a:t>관리자 접속 가능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" y="3429000"/>
            <a:ext cx="8641080" cy="30632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맑은 고딕"/>
              </a:defRPr>
            </a:pPr>
            <a:r>
              <a:t>의존성 관계도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4400" y="4023360"/>
            <a:ext cx="1463040" cy="5486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114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PostgreSQL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0" y="4023360"/>
            <a:ext cx="1463040" cy="5486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0" y="4114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0" y="4023360"/>
            <a:ext cx="1463040" cy="548640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0" y="4114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57400" y="4983480"/>
            <a:ext cx="1463040" cy="54864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50749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Game Server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0600" y="4983480"/>
            <a:ext cx="146304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00600" y="50749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80160" y="5897880"/>
            <a:ext cx="146304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80160" y="59893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023360" y="5897880"/>
            <a:ext cx="1463040" cy="54864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23360" y="59893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Admin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874519" y="4297680"/>
            <a:ext cx="777241" cy="685800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3200400" y="4297680"/>
            <a:ext cx="731520" cy="685800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931920" y="4297680"/>
            <a:ext cx="1417320" cy="685800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897880" y="4297680"/>
            <a:ext cx="1051560" cy="685800"/>
          </a:xfrm>
          <a:prstGeom prst="line">
            <a:avLst/>
          </a:prstGeom>
          <a:ln w="19050">
            <a:solidFill>
              <a:srgbClr val="B46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011680" y="5532120"/>
            <a:ext cx="777240" cy="365760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788920" y="5532120"/>
            <a:ext cx="1965960" cy="365760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4754880" y="5532120"/>
            <a:ext cx="777240" cy="36576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A-5  시크릿 관리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5개 K8s Secret — 이관 시 반드시 백업 후 신규 환경에 재등록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960120"/>
            <a:ext cx="2148840" cy="91440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05840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google-oauth-secret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38988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GOOGLE_CLIENT_ID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5727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GOOGLE_CLIENT_SECRET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960120"/>
            <a:ext cx="228600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0058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발급처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207008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Google Cloud Console</a:t>
            </a:r>
            <a:br/>
            <a:r>
              <a:t>→ APIs &amp; Services</a:t>
            </a:r>
            <a:br/>
            <a:r>
              <a:t>→ OAuth 2.0 Client 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960120"/>
            <a:ext cx="283464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0584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이관 주의사항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20700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console.cloud.google.com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38988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새 환경 redirect URI 등록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57276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http://localhost:30000/api/auth/callback/google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2075687"/>
            <a:ext cx="2148840" cy="9144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2121408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nextauth-secret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" y="250545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NEXTAUTH_SECRET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268833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NEXTAUTH_URL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2075687"/>
            <a:ext cx="228600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2121408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발급처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2322575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openssl rand -base64 32</a:t>
            </a:r>
            <a:br/>
            <a:r>
              <a:t>→ 랜덤 생성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0" y="2075687"/>
            <a:ext cx="283464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12140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이관 주의사항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2322575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각 환경마다 새로 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505456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NEXTAUTH_URL = 실제 접속 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2688335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예: http://localhost:30000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3191256"/>
            <a:ext cx="2148840" cy="91440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" y="3236976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llm-api-keys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" y="362102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OPENAI_API_KEY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380390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ANTHROPIC_API_KEY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398678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DEEPSEEK_API_KEY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14600" y="3191256"/>
            <a:ext cx="228600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06040" y="3236976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발급처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3438144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각 플랫폼에서 발급</a:t>
            </a:r>
            <a:br/>
            <a:r>
              <a:t>(선택: 최소 1개 필수)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0" y="3191256"/>
            <a:ext cx="283464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236976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이관 주의사항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438144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OpenAI: platform.openai.com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621024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Anthropic: console.anthropic.com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803904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DeepSeek: platform.deepseek.com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8600" y="4306824"/>
            <a:ext cx="2148840" cy="91440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" y="4352544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db-secret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POSTGRES_PASSWORD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14600" y="4306824"/>
            <a:ext cx="228600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40" y="435254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발급처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4553712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직접 설정</a:t>
            </a:r>
            <a:br/>
            <a:r>
              <a:t>(복잡한 패스워드 권장)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0" y="4306824"/>
            <a:ext cx="283464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435254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이관 주의사항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4553712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이관 후 DB 비밀번호 동일 유지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4736592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또는 dump+restore 후 재설정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4919472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PVC 이관 시 동일 값 사용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8600" y="5422392"/>
            <a:ext cx="2148840" cy="914400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2608" y="5468112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kakao-secret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7472" y="585216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맑은 고딕"/>
              </a:defRPr>
            </a:pPr>
            <a:r>
              <a:t>• KAKAO_REST_API_KEY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514600" y="5422392"/>
            <a:ext cx="228600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06040" y="546811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발급처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06040" y="566928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카카오 개발자 센터</a:t>
            </a:r>
            <a:br/>
            <a:r>
              <a:t>(선택 — 알림 기능용)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37760" y="5422392"/>
            <a:ext cx="283464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5468112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87878"/>
                </a:solidFill>
                <a:latin typeface="맑은 고딕"/>
              </a:defRPr>
            </a:pPr>
            <a:r>
              <a:t>이관 주의사항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566928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없어도 시스템 동작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585216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카카오톡 알림만 비활성화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603504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• developers.kakao.com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" y="6537960"/>
            <a:ext cx="8686800" cy="41148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656539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백업: kubectl get secret {이름} -n rummikub -o yaml &gt; backup-{이름}.yaml  ⚠️ 평문 저장 — 보안 주의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A-6  일상 운영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일일 점검 5항목 · 주간 유지보수 · API 비용 모니터링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868680"/>
            <a:ext cx="5577840" cy="3291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557784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89611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매일 점검 (Daily Check)</a:t>
            </a:r>
          </a:p>
        </p:txBody>
      </p:sp>
      <p:sp>
        <p:nvSpPr>
          <p:cNvPr id="12" name="Oval 11"/>
          <p:cNvSpPr/>
          <p:nvPr/>
        </p:nvSpPr>
        <p:spPr>
          <a:xfrm>
            <a:off x="347472" y="1417320"/>
            <a:ext cx="347472" cy="32004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417320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417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5E20"/>
                </a:solidFill>
                <a:latin typeface="맑은 고딕"/>
              </a:defRPr>
            </a:pPr>
            <a:r>
              <a:t>전체 Pod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61848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kubectl get pods -n rummikub</a:t>
            </a:r>
          </a:p>
        </p:txBody>
      </p:sp>
      <p:sp>
        <p:nvSpPr>
          <p:cNvPr id="16" name="Oval 15"/>
          <p:cNvSpPr/>
          <p:nvPr/>
        </p:nvSpPr>
        <p:spPr>
          <a:xfrm>
            <a:off x="347472" y="1947672"/>
            <a:ext cx="347472" cy="320040"/>
          </a:xfrm>
          <a:prstGeom prst="ellipse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1947672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47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5E20"/>
                </a:solidFill>
                <a:latin typeface="맑은 고딕"/>
              </a:defRPr>
            </a:pPr>
            <a:r>
              <a:t>에러 로그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14884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kubectl logs deployment/game-server --since=1h | grep error</a:t>
            </a:r>
          </a:p>
        </p:txBody>
      </p:sp>
      <p:sp>
        <p:nvSpPr>
          <p:cNvPr id="20" name="Oval 19"/>
          <p:cNvSpPr/>
          <p:nvPr/>
        </p:nvSpPr>
        <p:spPr>
          <a:xfrm>
            <a:off x="347472" y="2478024"/>
            <a:ext cx="347472" cy="320040"/>
          </a:xfrm>
          <a:prstGeom prst="ellipse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478024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478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5E20"/>
                </a:solidFill>
                <a:latin typeface="맑은 고딕"/>
              </a:defRPr>
            </a:pPr>
            <a:r>
              <a:t>AI Adapter 타임아웃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67919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kubectl logs deployment/ai-adapter --since=1h | grep timeout</a:t>
            </a:r>
          </a:p>
        </p:txBody>
      </p:sp>
      <p:sp>
        <p:nvSpPr>
          <p:cNvPr id="24" name="Oval 23"/>
          <p:cNvSpPr/>
          <p:nvPr/>
        </p:nvSpPr>
        <p:spPr>
          <a:xfrm>
            <a:off x="347472" y="3008376"/>
            <a:ext cx="347472" cy="320040"/>
          </a:xfrm>
          <a:prstGeom prst="ellipse">
            <a:avLst/>
          </a:prstGeom>
          <a:solidFill>
            <a:srgbClr val="1565C0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00837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0083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5E20"/>
                </a:solidFill>
                <a:latin typeface="맑은 고딕"/>
              </a:defRPr>
            </a:pPr>
            <a:r>
              <a:t>Redis 메모리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2095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redis-cli INFO memory | grep used_memory_human</a:t>
            </a:r>
          </a:p>
        </p:txBody>
      </p:sp>
      <p:sp>
        <p:nvSpPr>
          <p:cNvPr id="28" name="Oval 27"/>
          <p:cNvSpPr/>
          <p:nvPr/>
        </p:nvSpPr>
        <p:spPr>
          <a:xfrm>
            <a:off x="347472" y="3538728"/>
            <a:ext cx="347472" cy="320040"/>
          </a:xfrm>
          <a:prstGeom prst="ellipse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3538728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5387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5E20"/>
                </a:solidFill>
                <a:latin typeface="맑은 고딕"/>
              </a:defRPr>
            </a:pPr>
            <a:r>
              <a:t>API 비용 현황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3989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787878"/>
                </a:solidFill>
                <a:latin typeface="맑은 고딕"/>
              </a:defRPr>
            </a:pPr>
            <a:r>
              <a:t>curl localhost:30080/admin/stats/ai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868680"/>
            <a:ext cx="2971800" cy="3291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868680"/>
            <a:ext cx="2971800" cy="4572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89611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주간 유지보수 (Weekly)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4173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PostgreSQL 백업 (pg_dump)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187451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30일 이상 완료된 게임 삭제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31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Docker 이미지 정리 (prune)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7889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Trivy 보안 스캔 결과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32461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LLM API 잔액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7033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212121"/>
                </a:solidFill>
                <a:latin typeface="맑은 고딕"/>
              </a:defRPr>
            </a:pPr>
            <a:r>
              <a:t>✓  K8s 이벤트 로그 검토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" y="4251960"/>
            <a:ext cx="8686800" cy="2286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8600" y="4251960"/>
            <a:ext cx="8686800" cy="45720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279392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API 비용 모니터링 구조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4892040"/>
            <a:ext cx="1645920" cy="7772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00176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 Adapter</a:t>
            </a:r>
            <a:br/>
            <a:r>
              <a:t>비용 집계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26080" y="4892040"/>
            <a:ext cx="1645920" cy="77724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0" y="500176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일일 한도</a:t>
            </a:r>
            <a:br/>
            <a:r>
              <a:t>$20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0" y="4892040"/>
            <a:ext cx="1645920" cy="77724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0" y="500176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사용자 한도</a:t>
            </a:r>
            <a:br/>
            <a:r>
              <a:t>$5/시간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49440" y="4892040"/>
            <a:ext cx="1645920" cy="77724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0" y="500176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초과 시</a:t>
            </a:r>
            <a:br/>
            <a:r>
              <a:t>요청 차단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560320" y="5276088"/>
            <a:ext cx="365759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72000" y="5276088"/>
            <a:ext cx="36576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0" y="5276088"/>
            <a:ext cx="36576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1480" y="5760720"/>
            <a:ext cx="8321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모델별 비용: DeepSeek $0.039/게임  |  OpenAI GPT-5-mini 가변  |  Claude Sonnet 4 $1.11/게임  |  Ollama 무료</a:t>
            </a:r>
            <a:br/>
            <a:r>
              <a:t>Admin API: GET /admin/stats/ai → today_cost_usd / daily_limit_usd / model_breakdown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A-7  장애 대응 플로우차트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장애 감지 → 원인 분류 → 유형별 대응 → 복구 확인 → 사후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Oval 8"/>
          <p:cNvSpPr/>
          <p:nvPr/>
        </p:nvSpPr>
        <p:spPr>
          <a:xfrm>
            <a:off x="3749039" y="896112"/>
            <a:ext cx="1645920" cy="502920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932688"/>
            <a:ext cx="16459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장애 감지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0" y="1399032"/>
            <a:ext cx="0" cy="292608"/>
          </a:xfrm>
          <a:prstGeom prst="line">
            <a:avLst/>
          </a:prstGeom>
          <a:ln w="2540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108960" y="1691640"/>
            <a:ext cx="2926080" cy="56692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805025"/>
            <a:ext cx="2926080" cy="368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Pod 상태 확인</a:t>
            </a:r>
            <a:br/>
            <a:r>
              <a:t>kubectl get pods -n rummikub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2258568"/>
            <a:ext cx="0" cy="256032"/>
          </a:xfrm>
          <a:prstGeom prst="line">
            <a:avLst/>
          </a:prstGeom>
          <a:ln w="2540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3383280" y="2514600"/>
            <a:ext cx="2377440" cy="777240"/>
          </a:xfrm>
          <a:prstGeom prst="diamond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708910"/>
            <a:ext cx="190195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Pod</a:t>
            </a:r>
            <a:br/>
            <a:r>
              <a:t>Running?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720" y="2907792"/>
            <a:ext cx="1097280" cy="0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06440" y="27432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맑은 고딕"/>
              </a:defRPr>
            </a:pPr>
            <a:r>
              <a:t>Running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2606040"/>
            <a:ext cx="1828800" cy="5943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724912"/>
            <a:ext cx="1828800" cy="386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로그 분석</a:t>
            </a:r>
            <a:br/>
            <a:r>
              <a:t>(에러 패턴 확인)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3291840"/>
            <a:ext cx="0" cy="274320"/>
          </a:xfrm>
          <a:prstGeom prst="line">
            <a:avLst/>
          </a:prstGeom>
          <a:ln w="25400">
            <a:solidFill>
              <a:srgbClr val="C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3440" y="33375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C62828"/>
                </a:solidFill>
                <a:latin typeface="맑은 고딕"/>
              </a:defRPr>
            </a:pPr>
            <a:r>
              <a:t>Not Ready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3566160"/>
            <a:ext cx="2651760" cy="59436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685032"/>
            <a:ext cx="2651760" cy="386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kubectl rollout restart</a:t>
            </a:r>
            <a:br/>
            <a:r>
              <a:t>deployment/{svc}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0" y="2907792"/>
            <a:ext cx="0" cy="795528"/>
          </a:xfrm>
          <a:prstGeom prst="line">
            <a:avLst/>
          </a:prstGeom>
          <a:ln w="254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72000" y="4160520"/>
            <a:ext cx="0" cy="274320"/>
          </a:xfrm>
          <a:prstGeom prst="line">
            <a:avLst/>
          </a:prstGeom>
          <a:ln w="25400">
            <a:solidFill>
              <a:srgbClr val="C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3291840" y="4434840"/>
            <a:ext cx="2560320" cy="822960"/>
          </a:xfrm>
          <a:prstGeom prst="diamond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47872" y="4640579"/>
            <a:ext cx="2048255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서비스</a:t>
            </a:r>
            <a:br/>
            <a:r>
              <a:t>종류?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26280"/>
            <a:ext cx="1737360" cy="53035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617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49240"/>
            <a:ext cx="1737360" cy="530352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4406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4526280"/>
            <a:ext cx="1737360" cy="53035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5349240"/>
            <a:ext cx="1737360" cy="53035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54406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DB/Redis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2286000" y="4791456"/>
            <a:ext cx="1005840" cy="54864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286000" y="4846320"/>
            <a:ext cx="1005840" cy="768096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852160" y="4791456"/>
            <a:ext cx="91440" cy="54864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52160" y="4846320"/>
            <a:ext cx="91440" cy="768096"/>
          </a:xfrm>
          <a:prstGeom prst="line">
            <a:avLst/>
          </a:prstGeom>
          <a:ln w="1905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74320" y="5074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2E7D32"/>
                </a:solidFill>
                <a:latin typeface="맑은 고딕"/>
              </a:defRPr>
            </a:pPr>
            <a:r>
              <a:t>→ A-8 슬라이드 참조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5943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B5E20"/>
                </a:solidFill>
                <a:latin typeface="맑은 고딕"/>
              </a:defRPr>
            </a:pPr>
            <a:r>
              <a:t>→ A-8 슬라이드 참조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074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2E7D32"/>
                </a:solidFill>
                <a:latin typeface="맑은 고딕"/>
              </a:defRPr>
            </a:pPr>
            <a:r>
              <a:t>→ A-8 슬라이드 참조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943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→ A-9 슬라이드 참조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0" y="5989320"/>
            <a:ext cx="2926080" cy="53035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0" y="6095390"/>
            <a:ext cx="2926080" cy="344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복구 확인: curl :30080/health</a:t>
            </a:r>
            <a:br/>
            <a:r>
              <a:t>+ kubectl get pods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4572000" y="5879592"/>
            <a:ext cx="0" cy="109728"/>
          </a:xfrm>
          <a:prstGeom prst="line">
            <a:avLst/>
          </a:prstGeom>
          <a:ln w="19050">
            <a:solidFill>
              <a:srgbClr val="1B5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108960" y="6583680"/>
            <a:ext cx="2926080" cy="347472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0" y="66111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사후 기록: work_logs/incidents/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A-8  장애 유형별 대응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frontend 접속 불가 · game-server 오류 · ai-adapter 응답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914400"/>
            <a:ext cx="8686800" cy="17830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914400"/>
            <a:ext cx="868680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969264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맑은 고딕"/>
              </a:defRPr>
            </a:pPr>
            <a:r>
              <a:t>1. frontend 접속 불가 (http://localhost:30000)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389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2E7D32"/>
                </a:solidFill>
                <a:latin typeface="맑은 고딕"/>
              </a:defRPr>
            </a:pPr>
            <a:r>
              <a:t>증상: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57276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브라우저 ERR_CONNECTION_REFUSED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17556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흰 화면 또는 로딩 무한 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389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2E7D32"/>
                </a:solidFill>
                <a:latin typeface="맑은 고딕"/>
              </a:defRPr>
            </a:pPr>
            <a:r>
              <a:t>대응 순서: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57276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1. kubectl get pod -n rummikub -l app=frontend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177393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2. kubectl logs -n rummikub deployment/frontend --tail=50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197510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3. kubectl describe pod -n rummikub -l app=frontend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17627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4. kubectl rollout restart deployment/frontend -n rummikub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7744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5. kubectl rollout status deployment/frontend -n rummikub  # 완료 대기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14600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C62828"/>
                </a:solidFill>
                <a:latin typeface="맑은 고딕"/>
              </a:defRPr>
            </a:pPr>
            <a:r>
              <a:t>⚠ NEXTAUTH_URL이 실제 접속 URL과 다르면 OAuth 로그인 실패 발생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2816352"/>
            <a:ext cx="8686800" cy="17830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2816352"/>
            <a:ext cx="8686800" cy="41148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871216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맑은 고딕"/>
              </a:defRPr>
            </a:pPr>
            <a:r>
              <a:t>2. game-server API 실패 / WebSocket 연결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B5E20"/>
                </a:solidFill>
                <a:latin typeface="맑은 고딕"/>
              </a:defRPr>
            </a:pPr>
            <a:r>
              <a:t>증상: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34747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API 호출 시 502/503 응답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36576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WebSocket onclose 즉시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B5E20"/>
                </a:solidFill>
                <a:latin typeface="맑은 고딕"/>
              </a:defRPr>
            </a:pPr>
            <a:r>
              <a:t>대응 순서: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47472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1. kubectl describe deployment game-server -n rummikub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75887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2. kubectl exec -n rummikub deployment/game-server -- env | grep -E 'DB_|REDIS_'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87705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3. kubectl exec -n rummikub deployment/game-server -- curl localhost:8080/health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07822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4. kubectl rollout restart deployment/game-server -n rummikub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27939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5. kubectl logs -n rummikub deployment/game-server --since=5m | grep -i error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441655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C62828"/>
                </a:solidFill>
                <a:latin typeface="맑은 고딕"/>
              </a:defRPr>
            </a:pPr>
            <a:r>
              <a:t>⚠ DB 연결 실패 시 game-server 재시작 전 postgres/redis 상태 먼저 확인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" y="4718304"/>
            <a:ext cx="8686800" cy="17830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" y="4718304"/>
            <a:ext cx="868680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4773168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맑은 고딕"/>
              </a:defRPr>
            </a:pPr>
            <a:r>
              <a:t>3. ai-adapter 응답 없음 (AI 차례 멈춤)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" y="51937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2E7D32"/>
                </a:solidFill>
                <a:latin typeface="맑은 고딕"/>
              </a:defRPr>
            </a:pPr>
            <a:r>
              <a:t>증상: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" y="5376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AI 차례에서 1000초 대기 후 강제 드로우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" y="55595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• timeout 로그 반복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51937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2E7D32"/>
                </a:solidFill>
                <a:latin typeface="맑은 고딕"/>
              </a:defRPr>
            </a:pPr>
            <a:r>
              <a:t>대응 순서: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537667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1. kubectl logs -n rummikub deployment/ai-adapter --tail=100 | grep -E 'error|timeout|INVALID'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557784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2. kubectl get secret llm-api-keys -n rummikub -o jsonpath='{.data.OPENAI_API_KEY}' | base64 -d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577900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3. kubectl exec -n rummikub deployment/ollama -- ollama list  # Ollama 모델 확인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598017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4. kubectl rollout restart deployment/ai-adapter -n rummikub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0440" y="618134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212121"/>
                </a:solidFill>
                <a:latin typeface="맑은 고딕"/>
              </a:defRPr>
            </a:pPr>
            <a:r>
              <a:t>  5. # LLM API 키 만료 시: kubectl apply 로 시크릿 재등록 후 재시작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" y="6318504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C62828"/>
                </a:solidFill>
                <a:latin typeface="맑은 고딕"/>
              </a:defRPr>
            </a:pPr>
            <a:r>
              <a:t>⚠ Ollama가 응답 없으면 ollama 재시작 → qwen2.5:3b pull 재실행 필요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A-9  장애 유형별 대응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PostgreSQL 연결 실패 · Redis 장애 · 전체 시스템 재시작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914400"/>
            <a:ext cx="8686800" cy="171907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914400"/>
            <a:ext cx="8686800" cy="4114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969264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맑은 고딕"/>
              </a:defRPr>
            </a:pPr>
            <a:r>
              <a:t>4. PostgreSQL 연결 실패 (로그인 불가 · 방 목록 오류)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389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565C0"/>
                </a:solidFill>
                <a:latin typeface="맑은 고딕"/>
              </a:defRPr>
            </a:pPr>
            <a:r>
              <a:t>대응 순서: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57276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1. kubectl get pod -n rummikub -l app=postgres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1773936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2. kubectl exec -n rummikub deployment/postgres -- psql -U rummikub -c 'SELECT 1;'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1975104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3. kubectl get pvc -n rummikub  # PVC 마운트 상태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2176272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4. kubectl rollout restart deployment/postgres -n rummikub  # PVC 보호로 데이터 유지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2450591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C62828"/>
                </a:solidFill>
                <a:latin typeface="맑은 고딕"/>
              </a:defRPr>
            </a:pPr>
            <a:r>
              <a:t>⚠ PVC 삭제하면 DB 데이터 전체 손실. 재시작만으로 복구 안 되면 백업 복원 절차 진행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2743200"/>
            <a:ext cx="8686800" cy="171907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743200"/>
            <a:ext cx="8686800" cy="4114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798064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맑은 고딕"/>
              </a:defRPr>
            </a:pPr>
            <a:r>
              <a:t>5. Redis 장애 (게임 상태 손실 · 타이머 오작동)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2186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565C0"/>
                </a:solidFill>
                <a:latin typeface="맑은 고딕"/>
              </a:defRPr>
            </a:pPr>
            <a:r>
              <a:t>대응 순서: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340156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1. kubectl exec -n rummikub deployment/redis -- redis-cli PING  # PONG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" y="3602736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2. kubectl exec -n rummikub deployment/redis -- redis-cli DBSIZE  # 키 수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3803904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3. kubectl rollout restart deployment/redis -n rummikub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005072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212121"/>
                </a:solidFill>
                <a:latin typeface="맑은 고딕"/>
              </a:defRPr>
            </a:pPr>
            <a:r>
              <a:t>  4. # 주의: 재시작 시 진행 중인 게임 상태 손실. 사용자에게 사전 공지 필요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427939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C62828"/>
                </a:solidFill>
                <a:latin typeface="맑은 고딕"/>
              </a:defRPr>
            </a:pPr>
            <a:r>
              <a:t>⚠ Redis 재시작 시 현재 진행 중인 게임은 모두 중단됨. 영속 데이터(DB)는 영향 없음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" y="4663440"/>
            <a:ext cx="8686800" cy="24231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" y="4663440"/>
            <a:ext cx="8686800" cy="41148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690872"/>
            <a:ext cx="8321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6. 전체 시스템 재시작 순서 (의존성 순서 준수)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166360"/>
            <a:ext cx="1298448" cy="8046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postgres</a:t>
            </a:r>
            <a:br/>
            <a:r>
              <a:t>(30초 대기)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709928" y="5568696"/>
            <a:ext cx="1371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847088" y="5166360"/>
            <a:ext cx="1298448" cy="8046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47088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  <a:br/>
            <a:r>
              <a:t>(5초 대기)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45536" y="5568696"/>
            <a:ext cx="1371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282696" y="5166360"/>
            <a:ext cx="1298448" cy="804672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82696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  <a:br/>
            <a:r>
              <a:t>(5초 대기)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81144" y="5568696"/>
            <a:ext cx="1371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718304" y="5166360"/>
            <a:ext cx="1298448" cy="804672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18304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  <a:br/>
            <a:r>
              <a:t>(5초)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16752" y="5568696"/>
            <a:ext cx="1371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153912" y="5166360"/>
            <a:ext cx="1298448" cy="8046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53912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  <a:br/>
            <a:r>
              <a:t>(5초)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52360" y="5568696"/>
            <a:ext cx="137160" cy="0"/>
          </a:xfrm>
          <a:prstGeom prst="line">
            <a:avLst/>
          </a:prstGeom>
          <a:ln w="3175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589520" y="5166360"/>
            <a:ext cx="1298448" cy="8046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0" y="5230368"/>
            <a:ext cx="1298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  <a:br/>
            <a:r>
              <a:t>admin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" y="605332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212121"/>
                </a:solidFill>
                <a:latin typeface="맑은 고딕"/>
              </a:defRPr>
            </a:pPr>
            <a:r>
              <a:t>kubectl rollout restart deployment/{이름} -n rummikub  →  각 단계 완료 후 다음 진행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" y="63733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최종 확인: kubectl get pods -n rummikub  →  모든 Pod STATUS=Running, READY=1/1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A-10  배포 절차 — GitOps · 수동 · 롤백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정상: GitOps(권장) | 긴급: 수동 Helm | 문제: kubectl rollout undo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868680"/>
            <a:ext cx="2834640" cy="5440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283464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89611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GitOps 배포 (정상 경로)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1. git push origin main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2. GitLab CI 17단계 자동 실행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 (lint → build → scan → deploy → verify)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3. CI 통과 시 ArgoCD 자동 Sync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4. K8s Rolling Update 실행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5. 헬스체크 통과 → 배포 완료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확인: kubectl get application -n argocd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또는 ArgoCD UI: http://localhost:30087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5559552"/>
            <a:ext cx="2651760" cy="65836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559612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맑은 고딕"/>
              </a:defRPr>
            </a:pPr>
            <a:r>
              <a:t>권장 경로. 테스트 검증 후 배포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868680"/>
            <a:ext cx="2834640" cy="5440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868680"/>
            <a:ext cx="2834640" cy="45720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89611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수동 Helm 배포 (긴급 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389888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i="1">
                <a:solidFill>
                  <a:srgbClr val="787878"/>
                </a:solidFill>
                <a:latin typeface="맑은 고딕"/>
              </a:defRPr>
            </a:pPr>
            <a:r>
              <a:t># values.yaml 이미지 태그 수정 후: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helm upgrade {svc} helm/charts/{svc}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-n rummikub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--set image.tag=새태그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 i="1">
                <a:solidFill>
                  <a:srgbClr val="787878"/>
                </a:solidFill>
                <a:latin typeface="맑은 고딕"/>
              </a:defRPr>
            </a:pPr>
            <a:r>
              <a:t># 배포 진행 확인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kubectl rollout status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deployment/{svc} -n rummikub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1050" i="1">
                <a:solidFill>
                  <a:srgbClr val="212121"/>
                </a:solidFill>
                <a:latin typeface="맑은 고딕"/>
              </a:defRPr>
            </a:pPr>
            <a:r>
              <a:t>※ CI/CD 우회 — 보안 스캔 미실행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5559552"/>
            <a:ext cx="2651760" cy="658368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559612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맑은 고딕"/>
              </a:defRPr>
            </a:pPr>
            <a:r>
              <a:t>CI 없이 직접 배포. 긴급 패치 시만 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868680"/>
            <a:ext cx="2834640" cy="5440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868680"/>
            <a:ext cx="283464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89611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롤백 (문제 발생 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389888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i="1">
                <a:solidFill>
                  <a:srgbClr val="787878"/>
                </a:solidFill>
                <a:latin typeface="맑은 고딕"/>
              </a:defRPr>
            </a:pPr>
            <a:r>
              <a:t># 직전 버전으로 즉시 롤백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kubectl rollout undo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deployment/{svc} -n rummikub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</a:p>
          <a:p>
            <a:pPr>
              <a:spcAft>
                <a:spcPts val="300"/>
              </a:spcAft>
              <a:defRPr sz="950" i="1">
                <a:solidFill>
                  <a:srgbClr val="787878"/>
                </a:solidFill>
                <a:latin typeface="맑은 고딕"/>
              </a:defRPr>
            </a:pPr>
            <a:r>
              <a:t># 히스토리 확인 후 특정 버전 롤백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kubectl rollout history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deployment/{svc} -n rummikub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kubectl rollout undo \</a:t>
            </a:r>
          </a:p>
          <a:p>
            <a:pPr>
              <a:spcAft>
                <a:spcPts val="300"/>
              </a:spcAft>
              <a:defRPr sz="1050" i="0">
                <a:solidFill>
                  <a:srgbClr val="212121"/>
                </a:solidFill>
                <a:latin typeface="맑은 고딕"/>
              </a:defRPr>
            </a:pPr>
            <a:r>
              <a:t>  deployment/{svc} --to-revision=3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5559552"/>
            <a:ext cx="2651760" cy="658368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맑은 고딕"/>
              </a:defRPr>
            </a:pPr>
            <a:r>
              <a:t>배포 후 문제 즉시 발견 시. ArgoCD sync 일시 정지 필요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A-11  스케일링 전략 — 현재 vs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동시접속 100~200명 달성을 위한 단계적 확장 방안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868680"/>
            <a:ext cx="4160520" cy="3017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4160520" cy="438912"/>
          </a:xfrm>
          <a:prstGeom prst="rect">
            <a:avLst/>
          </a:prstGeom>
          <a:solidFill>
            <a:srgbClr val="78787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8961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현재 (단일 노드 · 즉시 가능)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1389888"/>
            <a:ext cx="1645920" cy="347472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44752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1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×1 replica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1810512"/>
            <a:ext cx="1645920" cy="3474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65376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186537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×1 replica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2231136"/>
            <a:ext cx="1645920" cy="3474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286000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228600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×1 replica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" y="2651760"/>
            <a:ext cx="1645920" cy="3474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706624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postgres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1" y="270662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×1 (단일)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3072384"/>
            <a:ext cx="1645920" cy="3474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127248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1" y="312724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×1 (단일)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" y="3493008"/>
            <a:ext cx="1645920" cy="347472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547872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1" y="35478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CPU (25s/턴)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389120" y="2377440"/>
            <a:ext cx="594360" cy="0"/>
          </a:xfrm>
          <a:prstGeom prst="line">
            <a:avLst/>
          </a:prstGeom>
          <a:ln w="381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15968" y="21031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9800"/>
                </a:solidFill>
                <a:latin typeface="맑은 고딕"/>
              </a:defRPr>
            </a:pPr>
            <a:r>
              <a:t>확장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868680"/>
            <a:ext cx="3931920" cy="3017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83480" y="868680"/>
            <a:ext cx="3931920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8961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목표 (100~200명 지원)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02352" y="1389888"/>
            <a:ext cx="1645920" cy="347472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1444752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game-server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1444752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×3 replica  (stateless 수평확장)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2352" y="1810512"/>
            <a:ext cx="1645920" cy="3474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65376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ai-adapter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1865376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×2 replica  (동시 커넥션 2배)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02352" y="2231136"/>
            <a:ext cx="1645920" cy="347472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2286000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frontend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228600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×2 replica  (부하 분산)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02352" y="2651760"/>
            <a:ext cx="1645920" cy="3474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0" y="2706624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postgres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2706624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×1 (충분) / Cloud SQL 옵션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02352" y="3072384"/>
            <a:ext cx="1645920" cy="347472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3127248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redis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9712" y="3127248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×1 (충분) / Redis Cluster 옵션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02352" y="3493008"/>
            <a:ext cx="1645920" cy="347472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20640" y="3547872"/>
            <a:ext cx="16093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ollama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3547872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12121"/>
                </a:solidFill>
                <a:latin typeface="맑은 고딕"/>
              </a:defRPr>
            </a:pPr>
            <a:r>
              <a:t>GPU 노드  (3s/턴 · 10배 처리)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8600" y="3977639"/>
            <a:ext cx="8686800" cy="2606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8600" y="3977639"/>
            <a:ext cx="8686800" cy="41148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4005072"/>
            <a:ext cx="8321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즉시 적용 가능한 명령어 (추가 노드 없이)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" y="4480560"/>
            <a:ext cx="77724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457200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Step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34440" y="449884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game-server 3배 확장 (즉시 가능 — stateless)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4440" y="4700016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1565C0"/>
                </a:solidFill>
                <a:latin typeface="맑은 고딕"/>
              </a:defRPr>
            </a:pPr>
            <a:r>
              <a:t>kubectl scale deployment game-server -n rummikub --replicas=3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7472" y="5157216"/>
            <a:ext cx="77724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7472" y="524865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Step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517550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ai-adapter 2배 확장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34440" y="5376672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1565C0"/>
                </a:solidFill>
                <a:latin typeface="맑은 고딕"/>
              </a:defRPr>
            </a:pPr>
            <a:r>
              <a:t>kubectl scale deployment ai-adapter -n rummikub --replicas=2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7472" y="5833872"/>
            <a:ext cx="777240" cy="402336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" y="592531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Step 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4440" y="585216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5E20"/>
                </a:solidFill>
                <a:latin typeface="맑은 고딕"/>
              </a:defRPr>
            </a:pPr>
            <a:r>
              <a:t>Ollama CPU 리소스 상향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605332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1565C0"/>
                </a:solidFill>
                <a:latin typeface="맑은 고딕"/>
              </a:defRPr>
            </a:pPr>
            <a:r>
              <a:t>helm upgrade ollama helm/charts/ollama -n rummikub --set resources.limits.cpu=8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A-12  클라우드 이관 아키텍처 — GKE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단일 노드 Docker Desktop K8s → Google Kubernetes Engine (월 $180~280)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868680"/>
            <a:ext cx="3749039" cy="5760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868680"/>
            <a:ext cx="3749039" cy="438912"/>
          </a:xfrm>
          <a:prstGeom prst="rect">
            <a:avLst/>
          </a:prstGeom>
          <a:solidFill>
            <a:srgbClr val="78787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896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현재: Docker Desktop K8s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1389888"/>
            <a:ext cx="3493008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17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2E7D32"/>
                </a:solidFill>
                <a:latin typeface="맑은 고딕"/>
              </a:defRPr>
            </a:pPr>
            <a:r>
              <a:t>단일 노드 (LG Gram)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719072"/>
            <a:ext cx="324612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73936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frontend ×1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77439"/>
            <a:ext cx="324612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432304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admin ×1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035808"/>
            <a:ext cx="324612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90672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game-server ×1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694176"/>
            <a:ext cx="3246120" cy="54864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749039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ai-adapter ×1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52544"/>
            <a:ext cx="3246120" cy="5486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407408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postgres ×1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5010912"/>
            <a:ext cx="3246120" cy="548640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065775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redis ×1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669280"/>
            <a:ext cx="3246120" cy="548640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24144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ollama (CPU) ×1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31920" y="3749039"/>
            <a:ext cx="960120" cy="0"/>
          </a:xfrm>
          <a:prstGeom prst="line">
            <a:avLst/>
          </a:prstGeom>
          <a:ln w="508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22191" y="3337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9800"/>
                </a:solidFill>
                <a:latin typeface="맑은 고딕"/>
              </a:defRPr>
            </a:pPr>
            <a:r>
              <a:t>이관</a:t>
            </a:r>
            <a:br/>
            <a:r>
              <a:t>(GKE)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2040" y="868680"/>
            <a:ext cx="4023360" cy="5760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92040" y="868680"/>
            <a:ext cx="4023360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0912" y="89611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목표: GKE Autopilot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10912" y="1389888"/>
            <a:ext cx="3767328" cy="28346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14173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1565C0"/>
                </a:solidFill>
                <a:latin typeface="맑은 고딕"/>
              </a:defRPr>
            </a:pPr>
            <a:r>
              <a:t>General Node Pool (n2-std-4 × 2~5)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38928" y="1737360"/>
            <a:ext cx="1691640" cy="5943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8928" y="1828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frontend ×2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67728" y="1737360"/>
            <a:ext cx="1691640" cy="5943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18288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admin ×1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38928" y="2487168"/>
            <a:ext cx="1691640" cy="594360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928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game-server ×3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67728" y="2487168"/>
            <a:ext cx="1691640" cy="5943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67728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ai-adapter ×2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10912" y="4315968"/>
            <a:ext cx="3767328" cy="10058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43434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B46400"/>
                </a:solidFill>
                <a:latin typeface="맑은 고딕"/>
              </a:defRPr>
            </a:pPr>
            <a:r>
              <a:t>GPU Node Pool (n1-std-4 + NVIDIA T4)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66360" y="4617720"/>
            <a:ext cx="3474720" cy="594360"/>
          </a:xfrm>
          <a:prstGeom prst="roundRect">
            <a:avLst/>
          </a:prstGeom>
          <a:solidFill>
            <a:srgbClr val="B46400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66360" y="4709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맑은 고딕"/>
              </a:defRPr>
            </a:pPr>
            <a:r>
              <a:t>ollama ×1  (GPU 추론 · 3s/턴)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10912" y="5413248"/>
            <a:ext cx="3767328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2352" y="54406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1">
                <a:solidFill>
                  <a:srgbClr val="1B5E20"/>
                </a:solidFill>
                <a:latin typeface="맑은 고딕"/>
              </a:defRPr>
            </a:pPr>
            <a:r>
              <a:t>공유 인프라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38928" y="5687568"/>
            <a:ext cx="169164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38928" y="576072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postgres ×1</a:t>
            </a:r>
            <a:br/>
            <a:r>
              <a:t>(Cloud SQL 옵션)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967728" y="5687568"/>
            <a:ext cx="1691640" cy="658368"/>
          </a:xfrm>
          <a:prstGeom prst="roundRect">
            <a:avLst/>
          </a:prstGeom>
          <a:solidFill>
            <a:srgbClr val="1565C0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67728" y="576072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맑은 고딕"/>
              </a:defRPr>
            </a:pPr>
            <a:r>
              <a:t>redis ×1</a:t>
            </a:r>
            <a:br/>
            <a:r>
              <a:t>(Memorystore 옵션)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" y="6556248"/>
            <a:ext cx="8732520" cy="38404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583680"/>
            <a:ext cx="8503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맑은 고딕"/>
              </a:defRPr>
            </a:pPr>
            <a:r>
              <a:t>주요 변경: NodePort → LoadBalancer  |  StorageClass: standard → standard-rwo  |  도메인+HTTPS 설정 필요  |  월 $180~280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A-13  이관 전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인계 전 반드시 완료해야 하는 항목 — 체크 후 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868680"/>
            <a:ext cx="4160520" cy="199339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4160520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914400"/>
            <a:ext cx="39410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데이터 백업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380744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399032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380744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PostgreSQL pg_dump 백업 실행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69164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728216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746504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1728216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백업 파일 크기 확인 (0B 아님)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03911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075688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09397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075688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Redis 진행 중 게임 없음 확인 (KEYS game:*)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386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2423160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44144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423160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백업 파일 외부 저장소 업로드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868680"/>
            <a:ext cx="4160520" cy="199339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868680"/>
            <a:ext cx="4160520" cy="402336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914400"/>
            <a:ext cx="39410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시크릿 이관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34416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1380744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1399032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79" y="1380744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google-oauth-secret YAML 추출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169164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0" y="1728216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1746504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79" y="1728216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nextauth-secret YAML 추출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203911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2075688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209397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79" y="2075688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llm-api-keys YAML 추출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386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0" y="2423160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0" y="244144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79" y="2423160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db-secret YAML 추출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273405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2770632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2788920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79" y="2770632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백업 파일 암호화 보관 (평문 주의)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8600" y="2990087"/>
            <a:ext cx="4160520" cy="199339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8600" y="2990087"/>
            <a:ext cx="4160520" cy="40233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" y="3035807"/>
            <a:ext cx="39410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이미지 확보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65575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3502151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520439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34440" y="3502151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DockerHub rummiarena/* 이미지 접근 확인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38130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" y="3849624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3867911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4440" y="3849624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로컬 이미지 tar 추출 또는 DockerHub push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41605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4197096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3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4440" y="4197096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GitLab CI 재빌드 가능 여부 확인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2990087"/>
            <a:ext cx="4160520" cy="199339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663440" y="2990087"/>
            <a:ext cx="4160520" cy="402336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73168" y="3035807"/>
            <a:ext cx="39410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문서 인수인계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3465575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120640" y="3502151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20640" y="3520439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79" y="3502151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운영자 매뉴얼 전달 (06-operations/10번)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38130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120640" y="3849624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20640" y="3867911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79" y="3849624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사용자 매뉴얼 전달 (06-operations/11번)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00600" y="41605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120640" y="4197096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120640" y="4215383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79" y="4197096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운영환경 구성 가이드 전달 (12번)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00600" y="45079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D32"/>
                </a:solidFill>
                <a:latin typeface="맑은 고딕"/>
              </a:defRPr>
            </a:pPr>
            <a:r>
              <a:t>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120640" y="4544568"/>
            <a:ext cx="475488" cy="237744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20640" y="4562855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완료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79" y="4544568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시크릿 값 별도 보안 채널 전달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28600" y="5111496"/>
            <a:ext cx="8686800" cy="1993392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28600" y="5111496"/>
            <a:ext cx="8686800" cy="402336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8328" y="5157216"/>
            <a:ext cx="84673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맑은 고딕"/>
              </a:defRPr>
            </a:pPr>
            <a:r>
              <a:t>신규 환경 검증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5586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87878"/>
                </a:solidFill>
                <a:latin typeface="맑은 고딕"/>
              </a:defRPr>
            </a:pPr>
            <a:r>
              <a:t>☐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5800" y="5623559"/>
            <a:ext cx="475488" cy="237744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5800" y="5641847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신규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4440" y="5623559"/>
            <a:ext cx="75712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kubectl get nodes → Ready 확인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5760" y="5934455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87878"/>
                </a:solidFill>
                <a:latin typeface="맑은 고딕"/>
              </a:defRPr>
            </a:pPr>
            <a:r>
              <a:t>☐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5800" y="5971031"/>
            <a:ext cx="475488" cy="237744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5800" y="5989319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신규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34440" y="5971031"/>
            <a:ext cx="75712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7개 서비스 모두 Running 확인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6281927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87878"/>
                </a:solidFill>
                <a:latin typeface="맑은 고딕"/>
              </a:defRPr>
            </a:pPr>
            <a:r>
              <a:t>☐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85800" y="6318503"/>
            <a:ext cx="475488" cy="237744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5800" y="6336791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신규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34440" y="6318503"/>
            <a:ext cx="75712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curl :30080/health → ok 응답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5760" y="662940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87878"/>
                </a:solidFill>
                <a:latin typeface="맑은 고딕"/>
              </a:defRPr>
            </a:pPr>
            <a:r>
              <a:t>☐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" y="6665976"/>
            <a:ext cx="475488" cy="237744"/>
          </a:xfrm>
          <a:prstGeom prst="roundRect">
            <a:avLst/>
          </a:prstGeom>
          <a:solidFill>
            <a:srgbClr val="787878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85800" y="6684264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맑은 고딕"/>
              </a:defRPr>
            </a:pPr>
            <a:r>
              <a:t>신규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34440" y="6665976"/>
            <a:ext cx="75712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12121"/>
                </a:solidFill>
                <a:latin typeface="맑은 고딕"/>
              </a:defRPr>
            </a:pPr>
            <a:r>
              <a:t>브라우저 게임 접속 + AI 대전 1회 테스트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맑은 고딕"/>
              </a:defRPr>
            </a:pPr>
            <a:r>
              <a:t>A-14  이관 후 검증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21207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1C784"/>
                </a:solidFill>
                <a:latin typeface="맑은 고딕"/>
              </a:defRPr>
            </a:pPr>
            <a:r>
              <a:t>신규 환경에서 서비스 정상 동작 최종 확인 — 7단계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9144000" cy="4572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47688"/>
            <a:ext cx="8595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맑은 고딕"/>
              </a:defRPr>
            </a:pPr>
            <a:r>
              <a:t>【별첨】RummiArena 운영 이관 계획  |  2026-05-10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09728"/>
            <a:ext cx="804672" cy="512064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7160"/>
            <a:ext cx="804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별 첨</a:t>
            </a:r>
          </a:p>
        </p:txBody>
      </p:sp>
      <p:sp>
        <p:nvSpPr>
          <p:cNvPr id="9" name="Oval 8"/>
          <p:cNvSpPr/>
          <p:nvPr/>
        </p:nvSpPr>
        <p:spPr>
          <a:xfrm>
            <a:off x="228600" y="1005840"/>
            <a:ext cx="475488" cy="475488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00584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0058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E7D32"/>
                </a:solidFill>
                <a:latin typeface="맑은 고딕"/>
              </a:defRPr>
            </a:pPr>
            <a:r>
              <a:t>전체 Pod 상태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280160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1307592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kubectl get pods -n rummikub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280160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307592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모든 Pod STATUS=Running, READY=1/1</a:t>
            </a:r>
          </a:p>
        </p:txBody>
      </p:sp>
      <p:sp>
        <p:nvSpPr>
          <p:cNvPr id="16" name="Oval 15"/>
          <p:cNvSpPr/>
          <p:nvPr/>
        </p:nvSpPr>
        <p:spPr>
          <a:xfrm>
            <a:off x="228600" y="1810512"/>
            <a:ext cx="475488" cy="475488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" y="18105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18105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맑은 고딕"/>
              </a:defRPr>
            </a:pPr>
            <a:r>
              <a:t>게임 서버 헬스체크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084831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2112264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curl http://localhost:30080/health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084831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112264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{"status":"ok","redis":"connected","db":"connected"}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" y="2615184"/>
            <a:ext cx="475488" cy="475488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26151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6151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E7D32"/>
                </a:solidFill>
                <a:latin typeface="맑은 고딕"/>
              </a:defRPr>
            </a:pPr>
            <a:r>
              <a:t>AI Adapter 헬스체크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2889503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16936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curl http://localhost:30081/health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2889503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2916936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{"status":"UP"}</a:t>
            </a:r>
          </a:p>
        </p:txBody>
      </p:sp>
      <p:sp>
        <p:nvSpPr>
          <p:cNvPr id="30" name="Oval 29"/>
          <p:cNvSpPr/>
          <p:nvPr/>
        </p:nvSpPr>
        <p:spPr>
          <a:xfrm>
            <a:off x="228600" y="3419856"/>
            <a:ext cx="475488" cy="475488"/>
          </a:xfrm>
          <a:prstGeom prst="ellipse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341985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419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FF9800"/>
                </a:solidFill>
                <a:latin typeface="맑은 고딕"/>
              </a:defRPr>
            </a:pPr>
            <a:r>
              <a:t>브라우저 게임 접속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" y="3694176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3721608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http://localhost:30000 접속 → Google OAuth 로그인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3694176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3721608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로그인 성공 · 로비 화면 표시 · ELO 순위 로드</a:t>
            </a:r>
          </a:p>
        </p:txBody>
      </p:sp>
      <p:sp>
        <p:nvSpPr>
          <p:cNvPr id="37" name="Oval 36"/>
          <p:cNvSpPr/>
          <p:nvPr/>
        </p:nvSpPr>
        <p:spPr>
          <a:xfrm>
            <a:off x="228600" y="4224527"/>
            <a:ext cx="475488" cy="475488"/>
          </a:xfrm>
          <a:prstGeom prst="ellipse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" y="4224527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4224527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맑은 고딕"/>
              </a:defRPr>
            </a:pPr>
            <a:r>
              <a:t>방 생성 + AI 대전 테스트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" y="4498848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4526279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방 생성 → DeepSeek AI 추가 → 게임 시작 → 5턴 진행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83480" y="4498848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526279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AI가 정상 배치 · 타이머 동작 · 점수 갱신</a:t>
            </a:r>
          </a:p>
        </p:txBody>
      </p:sp>
      <p:sp>
        <p:nvSpPr>
          <p:cNvPr id="44" name="Oval 43"/>
          <p:cNvSpPr/>
          <p:nvPr/>
        </p:nvSpPr>
        <p:spPr>
          <a:xfrm>
            <a:off x="228600" y="5029200"/>
            <a:ext cx="475488" cy="475488"/>
          </a:xfrm>
          <a:prstGeom prst="ellipse">
            <a:avLst/>
          </a:prstGeom>
          <a:solidFill>
            <a:srgbClr val="C62828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" y="50292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50292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맑은 고딕"/>
              </a:defRPr>
            </a:pPr>
            <a:r>
              <a:t>보안 스캔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" y="5303520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5330952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GitLab CI 파이프라인 실행 → Trivy 스캔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480" y="5303520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74920" y="5330952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Critical/High CVE = 0건</a:t>
            </a:r>
          </a:p>
        </p:txBody>
      </p:sp>
      <p:sp>
        <p:nvSpPr>
          <p:cNvPr id="51" name="Oval 50"/>
          <p:cNvSpPr/>
          <p:nvPr/>
        </p:nvSpPr>
        <p:spPr>
          <a:xfrm>
            <a:off x="228600" y="5833872"/>
            <a:ext cx="475488" cy="475488"/>
          </a:xfrm>
          <a:prstGeom prst="ellipse">
            <a:avLst/>
          </a:prstGeom>
          <a:solidFill>
            <a:srgbClr val="1565C0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583387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58338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565C0"/>
                </a:solidFill>
                <a:latin typeface="맑은 고딕"/>
              </a:defRPr>
            </a:pPr>
            <a:r>
              <a:t>DB 백업 테스트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4672" y="6108192"/>
            <a:ext cx="40233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" y="6135624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1565C0"/>
                </a:solidFill>
                <a:latin typeface="맑은 고딕"/>
              </a:defRPr>
            </a:pPr>
            <a:r>
              <a:t>kubectl exec deployment/postgres -- pg_dump -U rummikub rummikub | wc -l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83480" y="6108192"/>
            <a:ext cx="39319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6135624"/>
            <a:ext cx="3767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B5E20"/>
                </a:solidFill>
                <a:latin typeface="맑은 고딕"/>
              </a:defRPr>
            </a:pPr>
            <a:r>
              <a:t>→ 0보다 큰 숫자 → 백업 가능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" y="850392"/>
            <a:ext cx="402336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6968" y="868680"/>
            <a:ext cx="3886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검증 명령어 / 절차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850392"/>
            <a:ext cx="3931920" cy="384048"/>
          </a:xfrm>
          <a:prstGeom prst="roundRect">
            <a:avLst/>
          </a:prstGeom>
          <a:solidFill>
            <a:srgbClr val="1B5E20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4920" y="868680"/>
            <a:ext cx="37673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기대 결과 (PASS 기준)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6556248"/>
            <a:ext cx="8686800" cy="384048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" y="658368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맑은 고딕"/>
              </a:defRPr>
            </a:pPr>
            <a:r>
              <a:t>7단계 모두 PASS → 이관 완료 선언  |  FAIL 항목 발생 시 A-8/A-9 장애 대응 절차 참조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