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4114800"/>
            <a:ext cx="4572000" cy="36576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-457200"/>
            <a:ext cx="3657600" cy="2743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8229600" cy="7315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RummiArena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1C784"/>
                </a:solidFill>
                <a:latin typeface="맑은 고딕"/>
              </a:defRPr>
            </a:pPr>
            <a:r>
              <a:t>프로젝트 종료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F5E9"/>
                </a:solidFill>
                <a:latin typeface="맑은 고딕"/>
              </a:defRPr>
            </a:pPr>
            <a:r>
              <a:t>루미큐브 기반 멀티 LLM 전략 실험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맑은 고딕"/>
              </a:defRPr>
            </a:pPr>
            <a:r>
              <a:t>프로젝트 기간: 2026-03-08 ~ 2026-05-10  (63일)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5E9"/>
                </a:solidFill>
                <a:latin typeface="맑은 고딕"/>
              </a:defRPr>
            </a:pPr>
            <a:r>
              <a:t>팀 구성: 에이전트 13명 | 커밋 750+ | 테스트 2,462건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87878"/>
                </a:solidFill>
                <a:latin typeface="맑은 고딕"/>
              </a:defRPr>
            </a:pPr>
            <a:r>
              <a:t>작성: 애벌레 (프로젝트 오너)  |  2026-05-10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목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005840"/>
            <a:ext cx="50292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0424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프로젝트 개요 및 팀 구성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1993392"/>
            <a:ext cx="50292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75104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시스템 아키텍처 및 기술 스택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" y="2980944"/>
            <a:ext cx="50292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962656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개발 여정 — Sprint 1~7 + 핫픽스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" y="3968496"/>
            <a:ext cx="50292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50208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050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AI 대전 실험 결과 (LLM 비교)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" y="4956048"/>
            <a:ext cx="502920" cy="4572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937760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926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UI 아키텍처 — pendingStore SSOT</a:t>
            </a:r>
          </a:p>
        </p:txBody>
      </p:sp>
      <p:sp>
        <p:nvSpPr>
          <p:cNvPr id="21" name="Oval 20"/>
          <p:cNvSpPr/>
          <p:nvPr/>
        </p:nvSpPr>
        <p:spPr>
          <a:xfrm>
            <a:off x="4709160" y="1005840"/>
            <a:ext cx="502920" cy="457200"/>
          </a:xfrm>
          <a:prstGeom prst="ellipse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987552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0424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게임룰 SSOT — 77개 룰 체계</a:t>
            </a:r>
          </a:p>
        </p:txBody>
      </p:sp>
      <p:sp>
        <p:nvSpPr>
          <p:cNvPr id="24" name="Oval 23"/>
          <p:cNvSpPr/>
          <p:nvPr/>
        </p:nvSpPr>
        <p:spPr>
          <a:xfrm>
            <a:off x="4709160" y="1993392"/>
            <a:ext cx="502920" cy="457200"/>
          </a:xfrm>
          <a:prstGeom prst="ellipse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1975104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0299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품질 · 보안 · CI/CD</a:t>
            </a:r>
          </a:p>
        </p:txBody>
      </p:sp>
      <p:sp>
        <p:nvSpPr>
          <p:cNvPr id="27" name="Oval 26"/>
          <p:cNvSpPr/>
          <p:nvPr/>
        </p:nvSpPr>
        <p:spPr>
          <a:xfrm>
            <a:off x="4709160" y="2980944"/>
            <a:ext cx="502920" cy="457200"/>
          </a:xfrm>
          <a:prstGeom prst="ellipse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2962656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0175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운영 환경 및 동시접속 분석</a:t>
            </a:r>
          </a:p>
        </p:txBody>
      </p:sp>
      <p:sp>
        <p:nvSpPr>
          <p:cNvPr id="30" name="Oval 29"/>
          <p:cNvSpPr/>
          <p:nvPr/>
        </p:nvSpPr>
        <p:spPr>
          <a:xfrm>
            <a:off x="4709160" y="3968496"/>
            <a:ext cx="502920" cy="457200"/>
          </a:xfrm>
          <a:prstGeom prst="ellipse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3950208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0050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기술 부채 및 향후 과제</a:t>
            </a:r>
          </a:p>
        </p:txBody>
      </p:sp>
      <p:sp>
        <p:nvSpPr>
          <p:cNvPr id="33" name="Oval 32"/>
          <p:cNvSpPr/>
          <p:nvPr/>
        </p:nvSpPr>
        <p:spPr>
          <a:xfrm>
            <a:off x="4709160" y="4956048"/>
            <a:ext cx="502920" cy="457200"/>
          </a:xfrm>
          <a:prstGeom prst="ellipse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4937760"/>
            <a:ext cx="5029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9926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맑은 고딕"/>
              </a:defRPr>
            </a:pPr>
            <a:r>
              <a:t>프로젝트 최종 성과 및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RummiArena — 루미큐브 기반 멀티 LLM 전략 실험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868680"/>
            <a:ext cx="2743200" cy="53949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목적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53312"/>
            <a:ext cx="2651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630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루미큐브 게임 환경에서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GPT, Claude, DeepSeek,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Ollama(LLaMA) 등 다양한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LLM의 전략 능력을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비교·실험하는 플랫폼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868680"/>
            <a:ext cx="2743200" cy="539496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범위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353312"/>
            <a:ext cx="2651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4630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Human + AI 혼합 2~4인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실시간 멀티플레이 대전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웹 기반 게임 UI + 관리자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K8s 기반 운영 환경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63일 / Sprint 7 + 핫픽스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868680"/>
            <a:ext cx="2743200" cy="539496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914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성과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353312"/>
            <a:ext cx="26517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커밋 750+  |  문서 110+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테스트 2,462건 통과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AI 최고 place rate 33.3%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LLaMA 로컬 모델 25.6%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맑은 고딕"/>
              </a:defRPr>
            </a:pPr>
            <a:r>
              <a:t>• CI/CD 17/17 ALL GREEN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팀 구성 — 에이전트 13명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2011680" cy="123444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051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애벌레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27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프로젝트 오너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960120"/>
            <a:ext cx="2011680" cy="123444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051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527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프로젝트 매니저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16" y="960120"/>
            <a:ext cx="2011680" cy="123444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051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527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시스템 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2864" y="960120"/>
            <a:ext cx="2011680" cy="123444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10515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go-dev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52704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게임서버 (Go)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423160"/>
            <a:ext cx="2011680" cy="123444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node-dev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29900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AI 어댑터 (NestJS)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7168" y="2423160"/>
            <a:ext cx="2011680" cy="123444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frontend-dev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9900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프론트엔드 (Next.js)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0016" y="2423160"/>
            <a:ext cx="2011680" cy="123444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frontend-dev-opus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9900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프론트 페어코딩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12864" y="2423160"/>
            <a:ext cx="2011680" cy="123444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6016" y="25146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devops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299008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K8s/CI/CD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886200"/>
            <a:ext cx="2011680" cy="123444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977639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qa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4453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테스트 품질관리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87168" y="3886200"/>
            <a:ext cx="2011680" cy="1234440"/>
          </a:xfrm>
          <a:prstGeom prst="roundRect">
            <a:avLst/>
          </a:prstGeom>
          <a:solidFill>
            <a:srgbClr val="C6282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977639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453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보안 엔지니어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0016" y="3886200"/>
            <a:ext cx="2011680" cy="123444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977639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ai-engineer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4453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LLM 프롬프트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2864" y="3886200"/>
            <a:ext cx="2011680" cy="123444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6016" y="3977639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game-analyst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86016" y="445312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게임룰 SSOT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349240"/>
            <a:ext cx="2011680" cy="1234440"/>
          </a:xfrm>
          <a:prstGeom prst="roundRect">
            <a:avLst/>
          </a:prstGeom>
          <a:solidFill>
            <a:srgbClr val="81C784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544068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designer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5916168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UI/UX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5개 서비스 + Redis + PostgreSQL — Kubernetes 운영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868680"/>
            <a:ext cx="1417320" cy="685800"/>
          </a:xfrm>
          <a:prstGeom prst="roundRect">
            <a:avLst/>
          </a:prstGeom>
          <a:solidFill>
            <a:srgbClr val="81C78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맑은 고딕"/>
              </a:defRPr>
            </a:pPr>
            <a:r>
              <a:t>👤 사용자</a:t>
            </a:r>
            <a:br/>
            <a:r>
              <a:t>(Browser)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1417320" cy="685800"/>
          </a:xfrm>
          <a:prstGeom prst="roundRect">
            <a:avLst/>
          </a:prstGeom>
          <a:solidFill>
            <a:srgbClr val="81C78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  <a:latin typeface="맑은 고딕"/>
              </a:defRPr>
            </a:pPr>
            <a:r>
              <a:t>👤 관리자</a:t>
            </a:r>
            <a:br/>
            <a:r>
              <a:t>(Browser)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1216152"/>
            <a:ext cx="411480" cy="201168"/>
          </a:xfrm>
          <a:prstGeom prst="line">
            <a:avLst/>
          </a:prstGeom>
          <a:ln w="317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91640" y="2039112"/>
            <a:ext cx="411480" cy="182880"/>
          </a:xfrm>
          <a:prstGeom prst="line">
            <a:avLst/>
          </a:prstGeom>
          <a:ln w="317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960120"/>
            <a:ext cx="1463040" cy="6858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0058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Frontend</a:t>
            </a:r>
            <a:br/>
            <a:r>
              <a:t>(Next.js)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1783080"/>
            <a:ext cx="1463040" cy="68580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82880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Admin Panel</a:t>
            </a:r>
            <a:br/>
            <a:r>
              <a:t>(Next.js)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1307592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2130552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31920" y="868680"/>
            <a:ext cx="1645920" cy="137160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914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Game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28016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F5E9"/>
                </a:solidFill>
                <a:latin typeface="맑은 고딕"/>
              </a:defRPr>
            </a:pPr>
            <a:r>
              <a:t>Go / gin</a:t>
            </a:r>
            <a:br/>
            <a:r>
              <a:t>gorilla/ws</a:t>
            </a:r>
            <a:br/>
            <a:r>
              <a:t>GORM</a:t>
            </a:r>
            <a:br/>
            <a:r>
              <a:t>Game Engine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77840" y="1554480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43600" y="914400"/>
            <a:ext cx="1508760" cy="123444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9601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AI Adapter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3258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NestJS</a:t>
            </a:r>
            <a:br/>
            <a:r>
              <a:t>TypeScript</a:t>
            </a:r>
            <a:br/>
            <a:r>
              <a:t>Rate Limit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71231" y="868680"/>
            <a:ext cx="1298448" cy="54864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1" y="896112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GPT-5-mini</a:t>
            </a:r>
            <a:br/>
            <a:r>
              <a:t>(OpenAI)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52360" y="1197864"/>
            <a:ext cx="118871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71231" y="1417319"/>
            <a:ext cx="1298448" cy="54864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1" y="1444751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DeepSeek</a:t>
            </a:r>
            <a:br/>
            <a:r>
              <a:t>V4-Pro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1746504"/>
            <a:ext cx="118871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71231" y="1965960"/>
            <a:ext cx="1298448" cy="54864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1" y="1993392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Sonnet 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52360" y="2295144"/>
            <a:ext cx="118871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571231" y="2514600"/>
            <a:ext cx="1298448" cy="54864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71231" y="2542032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Ollama</a:t>
            </a:r>
            <a:br/>
            <a:r>
              <a:t>LLaMA 3B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52360" y="2843784"/>
            <a:ext cx="118871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543800" y="914400"/>
            <a:ext cx="1325880" cy="59436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932688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GPT-5-mini</a:t>
            </a:r>
            <a:br/>
            <a:r>
              <a:t>(OpenAI)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52360" y="1207008"/>
            <a:ext cx="91440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543800" y="1627632"/>
            <a:ext cx="1325880" cy="59436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1645920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DeepSeek</a:t>
            </a:r>
            <a:br/>
            <a:r>
              <a:t>V4-Pro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52360" y="1920240"/>
            <a:ext cx="91440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543800" y="2340864"/>
            <a:ext cx="1325880" cy="59436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235915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Claude</a:t>
            </a:r>
            <a:br/>
            <a:r>
              <a:t>Sonnet 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452360" y="2633472"/>
            <a:ext cx="91440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543800" y="3054096"/>
            <a:ext cx="1325880" cy="59436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07238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Ollama</a:t>
            </a:r>
            <a:br/>
            <a:r>
              <a:t>LLaMA 3B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52360" y="3346703"/>
            <a:ext cx="91440" cy="0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57200" y="3657600"/>
            <a:ext cx="2194560" cy="73152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3703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Redis 7</a:t>
            </a:r>
            <a:br/>
            <a:r>
              <a:t>(게임 상태)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26080" y="3657600"/>
            <a:ext cx="2194560" cy="73152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0" y="3703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PostgreSQL 16</a:t>
            </a:r>
            <a:br/>
            <a:r>
              <a:t>(영속 데이터)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94960" y="3657600"/>
            <a:ext cx="1828800" cy="731520"/>
          </a:xfrm>
          <a:prstGeom prst="roundRect">
            <a:avLst/>
          </a:prstGeom>
          <a:solidFill>
            <a:srgbClr val="787878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0" y="3703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Istio</a:t>
            </a:r>
            <a:br/>
            <a:r>
              <a:t>Service Mesh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3657600"/>
            <a:ext cx="1463040" cy="731520"/>
          </a:xfrm>
          <a:prstGeom prst="roundRect">
            <a:avLst/>
          </a:prstGeom>
          <a:solidFill>
            <a:srgbClr val="787878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0" y="37033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ArgoCD</a:t>
            </a:r>
            <a:br/>
            <a:r>
              <a:t>(GitOps)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754880" y="2240280"/>
            <a:ext cx="0" cy="1417320"/>
          </a:xfrm>
          <a:prstGeom prst="line">
            <a:avLst/>
          </a:prstGeom>
          <a:ln w="3175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1554480" y="2240280"/>
            <a:ext cx="2926080" cy="1417320"/>
          </a:xfrm>
          <a:prstGeom prst="line">
            <a:avLst/>
          </a:prstGeom>
          <a:ln w="3175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  <a:latin typeface="맑은 고딕"/>
              </a:defRPr>
            </a:pPr>
            <a:r>
              <a:t>K8s (Docker Desktop)  |  Namespace: rummikub  |  7개 서비스 Running  |  Helm 차트 5개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434840"/>
            <a:ext cx="8686800" cy="36576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89320" y="841248"/>
            <a:ext cx="2926080" cy="5623560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99048" y="950976"/>
            <a:ext cx="2706624" cy="540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핵심 설계 원칙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1. LLM 신뢰 금지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LLM 응답은 반드시 Game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Engine이 유효성 검증.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Invalid → 재시도 3회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→ 강제 드로우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2. AI Adapter 분리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모든 LLM은 동일한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MoveRequest/Response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인터페이스로 통신.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모델 교체 가능.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3. Stateless 서버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게임 상태 = Redis.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Pod 재시작에도 게임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상태 유지.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4. GitOps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GitHub(SSOT) →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GitLab(mirror) →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 ArgoCD → K8s 배포.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Frontend · Backend · AI · Infra ·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868680"/>
            <a:ext cx="2011680" cy="544068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14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6304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Next.js (React 18)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TailwindCSS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dnd-kit (드래그앤드롭)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Framer Motion (애니메이션)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next-auth (Google OAuth)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868680"/>
            <a:ext cx="2011680" cy="544068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7" y="914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37160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7" y="146304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Go / gin + gorilla/ws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GORM (PostgreSQL)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NestJS / TypeScript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Redis 7 (Pub/Sub)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JWT 인증 미들웨어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6" y="868680"/>
            <a:ext cx="2011680" cy="544068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5736" y="914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/ 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455" y="137160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146304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OpenAI gpt-5-mini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Claude Sonnet 4 (thinking)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DeepSeek V4-Pro (thinking)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Ollama qwen2.5:3b (로컬)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프롬프트 v1~v9 진화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2864" y="868680"/>
            <a:ext cx="2011680" cy="544068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3" y="914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Infra / CI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4303" y="137160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0024" y="146304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Docker Desktop K8s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Helm 3 + ArgoCD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GitLab CI (17 stages)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Istio Service Mesh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Trivy + SonarQube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개발 여정 — 63일 스프린트 타임라인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8229600" cy="54864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960120"/>
            <a:ext cx="914400" cy="868680"/>
          </a:xfrm>
          <a:prstGeom prst="roundRect">
            <a:avLst/>
          </a:prstGeom>
          <a:solidFill>
            <a:srgbClr val="81C784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96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기반 구축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828800"/>
            <a:ext cx="0" cy="1920239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03-08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~03-24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331720"/>
            <a:ext cx="914400" cy="868680"/>
          </a:xfrm>
          <a:prstGeom prst="roundRect">
            <a:avLst/>
          </a:prstGeom>
          <a:solidFill>
            <a:srgbClr val="81C784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368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15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AI 캐릭터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103120" y="3200400"/>
            <a:ext cx="0" cy="548639"/>
          </a:xfrm>
          <a:prstGeom prst="line">
            <a:avLst/>
          </a:prstGeom>
          <a:ln w="1905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4592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03-25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~04-04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960120"/>
            <a:ext cx="914400" cy="86868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996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1344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OAuth/WS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1828800"/>
            <a:ext cx="0" cy="1920239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5176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04-05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~04-14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2331720"/>
            <a:ext cx="914400" cy="86868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368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715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보안 P0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114800" y="3200400"/>
            <a:ext cx="0" cy="548639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5760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04-15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~04-22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960120"/>
            <a:ext cx="914400" cy="86868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996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1344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Rate Limit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20640" y="1828800"/>
            <a:ext cx="0" cy="1920239"/>
          </a:xfrm>
          <a:prstGeom prst="line">
            <a:avLst/>
          </a:prstGeom>
          <a:ln w="19050">
            <a:solidFill>
              <a:srgbClr val="1B5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66344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04-23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~04-30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2331720"/>
            <a:ext cx="914400" cy="86868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2368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2715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재배치 UI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6126480" y="3200400"/>
            <a:ext cx="0" cy="548639"/>
          </a:xfrm>
          <a:prstGeom prst="line">
            <a:avLst/>
          </a:prstGeom>
          <a:ln w="19050">
            <a:solidFill>
              <a:srgbClr val="1B5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05-01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~05-07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960120"/>
            <a:ext cx="914400" cy="86868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9966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S7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1344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마라톤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32320" y="1828800"/>
            <a:ext cx="0" cy="1920239"/>
          </a:xfrm>
          <a:prstGeom prst="line">
            <a:avLst/>
          </a:prstGeom>
          <a:ln w="190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7512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04-25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~05-04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80960" y="2331720"/>
            <a:ext cx="914400" cy="868680"/>
          </a:xfrm>
          <a:prstGeom prst="roundRect">
            <a:avLst/>
          </a:prstGeom>
          <a:solidFill>
            <a:srgbClr val="C6282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2368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HF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27157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핫픽스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8138160" y="3200400"/>
            <a:ext cx="0" cy="548639"/>
          </a:xfrm>
          <a:prstGeom prst="line">
            <a:avLst/>
          </a:prstGeom>
          <a:ln w="1905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680960" y="38404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05-01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4114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87878"/>
                </a:solidFill>
                <a:latin typeface="맑은 고딕"/>
              </a:defRPr>
            </a:pPr>
            <a:r>
              <a:t>~05-10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4572000"/>
            <a:ext cx="1554480" cy="5943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6177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750+ 커밋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965960" y="4572000"/>
            <a:ext cx="1554480" cy="59436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5960" y="46177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110+ 문서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0" y="4572000"/>
            <a:ext cx="1554480" cy="59436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46177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2,462 테스트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49240" y="4572000"/>
            <a:ext cx="1554480" cy="59436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9240" y="46177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CI/CD 17/17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040880" y="4572000"/>
            <a:ext cx="1554480" cy="5943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0" y="46177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LLM 4종 실험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Sprint 1~4 — 기반 구축부터 보안 강화까지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20624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92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Sprint 1  (03-08~03-24)  기반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Game Engine 핵심 (그룹/런 검증, 초기 용융, 조커)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REST API + WebSocket 구현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K8s 5개 서비스 첫 배포 (Helm)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JWT fail-fast, CVE 7건 수정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91440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914400"/>
            <a:ext cx="420624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9692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Sprint 2  (03-25~04-04)  AI 캐릭터 + 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8132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AI 캐릭터 6종 × 3난이도 설계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Turn Orchestrator + ELO 랭킹 시스템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관리자 대시보드 + 연습 모드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첫 LLM 프롬프트 v1 실험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79476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420624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8496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Sprint 3  (04-05~04-14)  OAuth + WS 재연결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Google OAuth 2.0 K8s 통합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WebSocket 재연결 + Redis Session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Redis Timer 기반 턴 타임아웃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Istio Service Mesh 도입 (game-server + ai-adapter)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379476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59" y="3794760"/>
            <a:ext cx="420624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599" y="38496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Sprint 4  (04-15~04-22)  보안 P0 + DeepSeek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36168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보안 5건: SQL injection, XSS, Admin API 인증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WebSocket 인증 검증, dev-login 차단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DeepSeek V4-Pro 통합 (23.1% place rate)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비용 한도: 일일 $20 / 시간당 $5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Sprint 5~7 + 핫픽스 — 고도화·마라톤·실측 완료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420624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92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Sprint 5  (04-23~04-30)  Rate Limit +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Rate Limiting: REST Sliding Window / WS Fixed Window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CI/CD 17/17 ALL GREEN 달성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DeepSeek N=3 실험: 23.1% 확정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플레이테스트 88.6% 통과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91440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914400"/>
            <a:ext cx="420624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9" y="9692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Sprint 6  (05-01~05-07)  재배치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8132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dnd-kit 드래그앤드롭 도입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재배치 4유형 UI 구현 (손→보드, 보드→보드 등)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Agent Teams 13명 체제 본격화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핫픽스 4건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79476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4206240" cy="47548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8496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Sprint 7  (04-25~05-04)  마라톤 마감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pendingStore SSOT 아키텍처 (38개 파일, 13개 필드 제거)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게임룰 SSOT 71→77개 룰 확정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SEC-A/B/C 완료 (govulncheck 25→0건)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Phase D: 8.5 Story Point × 1.5시간 달성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3794760"/>
            <a:ext cx="4206240" cy="2697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59" y="3794760"/>
            <a:ext cx="420624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599" y="38496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핫픽스 세션  (05-01~05-10)  실측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361688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BUG-CONFIRM-001: confirmBusy 영구 잠금 수정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LLaMA v8(15.8%) → v9(25.6%) place rate 달성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V-22 단독 승리 룰, 로비 ELO API 연동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Jest 659 / AI Adapter 637 PASS 최종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AI 대전 실험 결과 — LLM 4종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place rate = 턴당 실제 타일 배치 성공 비율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61287"/>
            <a:ext cx="1645920" cy="3044952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1381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맑은 고딕"/>
              </a:defRPr>
            </a:pPr>
            <a:r>
              <a:t>33.3%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519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GPT</a:t>
            </a:r>
            <a:br/>
            <a:r>
              <a:t>gpt-5-mini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78"/>
                </a:solidFill>
                <a:latin typeface="맑은 고딕"/>
              </a:defRPr>
            </a:pPr>
            <a:r>
              <a:t>v2 프롬프트</a:t>
            </a:r>
            <a:br/>
            <a:r>
              <a:t>$0.10/1M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1289303"/>
            <a:ext cx="1645920" cy="2916936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94183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  <a:latin typeface="맑은 고딕"/>
              </a:defRPr>
            </a:pPr>
            <a:r>
              <a:t>31.9%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42519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DeepSeek</a:t>
            </a:r>
            <a:br/>
            <a:r>
              <a:t>V4-Pro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78"/>
                </a:solidFill>
                <a:latin typeface="맑은 고딕"/>
              </a:defRPr>
            </a:pPr>
            <a:r>
              <a:t>thinking 모드</a:t>
            </a:r>
            <a:br/>
            <a:r>
              <a:t>$0.039/게임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865375"/>
            <a:ext cx="1645920" cy="2340864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51790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  <a:latin typeface="맑은 고딕"/>
              </a:defRPr>
            </a:pPr>
            <a:r>
              <a:t>25.6%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42519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Ollama</a:t>
            </a:r>
            <a:br/>
            <a:r>
              <a:t>LLaMA 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78"/>
                </a:solidFill>
                <a:latin typeface="맑은 고딕"/>
              </a:defRPr>
            </a:pPr>
            <a:r>
              <a:t>로컬 CPU</a:t>
            </a:r>
            <a:br/>
            <a:r>
              <a:t>무료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79" y="2377439"/>
            <a:ext cx="1645920" cy="18288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79" y="202996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565C0"/>
                </a:solidFill>
                <a:latin typeface="맑은 고딕"/>
              </a:defRPr>
            </a:pPr>
            <a:r>
              <a:t>20.0%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42519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Claude</a:t>
            </a:r>
            <a:br/>
            <a:r>
              <a:t>Sonnet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78"/>
                </a:solidFill>
                <a:latin typeface="맑은 고딕"/>
              </a:defRPr>
            </a:pPr>
            <a:r>
              <a:t>thinking 모드</a:t>
            </a:r>
            <a:br/>
            <a:r>
              <a:t>$1.11/게임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24528"/>
            <a:ext cx="8412480" cy="45720"/>
          </a:xfrm>
          <a:prstGeom prst="rect">
            <a:avLst/>
          </a:prstGeom>
          <a:solidFill>
            <a:srgbClr val="787878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" y="5349240"/>
            <a:ext cx="8503920" cy="10058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맑은 고딕"/>
              </a:defRPr>
            </a:pPr>
            <a:r>
              <a:t>핵심 발견: Thinking 모드가 필수 — V4-Flash(비thinking) 0% vs V4-Pro(thinking) 31.9%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60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비용 대비 성능: DeepSeek $0.039/게임 vs Claude $1.11/게임 (28배 차이, 성능 비슷)  |  LLaMA 로컬 무료 25.6%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841248"/>
            <a:ext cx="2926080" cy="5623560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8" y="950976"/>
            <a:ext cx="2706624" cy="540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실험 조건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N=3 self-play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(게임 3회 평균)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평가 지표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place rate: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턴당 배치 성공률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fallback: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엔진 거부 후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강제 드로우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GPT v2 고정 이유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v4 프롬프트 실험 결과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reasoning_tokens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-25% 감소(Cohen d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=-1.46). 내부 RLHF가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외부 지시를 무시.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LLaMA 목표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v10에서 30%+ 도전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(ERR_NO_RACK_TILE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수정 시 가능 전망)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LLaMA(Ollama) 프롬프트 진화 — v6→v9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3B 파라미터 CPU 추론 모델에게 루미큐브를 가르친 8주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960120"/>
            <a:ext cx="1005840" cy="1005840"/>
          </a:xfrm>
          <a:prstGeom prst="ellipse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24128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v6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1463040"/>
            <a:ext cx="246888" cy="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79" y="2103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단순 질의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맑은 고딕"/>
              </a:defRPr>
            </a:pPr>
            <a: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063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모델이 단 한 번도</a:t>
            </a:r>
            <a:br/>
            <a:r>
              <a:t>타일을 배치 안 함</a:t>
            </a:r>
          </a:p>
        </p:txBody>
      </p:sp>
      <p:sp>
        <p:nvSpPr>
          <p:cNvPr id="13" name="Oval 12"/>
          <p:cNvSpPr/>
          <p:nvPr/>
        </p:nvSpPr>
        <p:spPr>
          <a:xfrm>
            <a:off x="3035808" y="960120"/>
            <a:ext cx="1005840" cy="1005840"/>
          </a:xfrm>
          <a:prstGeom prst="ellipse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024128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v7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98848" y="1463040"/>
            <a:ext cx="246888" cy="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24328" y="2103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배치 판단 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62828"/>
                </a:solidFill>
                <a:latin typeface="맑은 고딕"/>
              </a:defRPr>
            </a:pPr>
            <a:r>
              <a:t>~5%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3063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낮은 성공률</a:t>
            </a:r>
            <a:br/>
            <a:r>
              <a:t>개선 방향 탐색 중</a:t>
            </a:r>
          </a:p>
        </p:txBody>
      </p:sp>
      <p:sp>
        <p:nvSpPr>
          <p:cNvPr id="19" name="Oval 18"/>
          <p:cNvSpPr/>
          <p:nvPr/>
        </p:nvSpPr>
        <p:spPr>
          <a:xfrm>
            <a:off x="5248655" y="960120"/>
            <a:ext cx="1005840" cy="1005840"/>
          </a:xfrm>
          <a:prstGeom prst="ellipse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5" y="1024128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v8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11696" y="1463040"/>
            <a:ext cx="246887" cy="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37175" y="2103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사전 계산 전략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7175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9800"/>
                </a:solidFill>
                <a:latin typeface="맑은 고딕"/>
              </a:defRPr>
            </a:pPr>
            <a:r>
              <a:t>15.8%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5" y="3063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가능한 조합 목록화</a:t>
            </a:r>
            <a:br/>
            <a:r>
              <a:t>→ 선택 방식 도입</a:t>
            </a:r>
          </a:p>
        </p:txBody>
      </p:sp>
      <p:sp>
        <p:nvSpPr>
          <p:cNvPr id="25" name="Oval 24"/>
          <p:cNvSpPr/>
          <p:nvPr/>
        </p:nvSpPr>
        <p:spPr>
          <a:xfrm>
            <a:off x="7461504" y="960120"/>
            <a:ext cx="1005840" cy="100584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1024128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v9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0023" y="2103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ERR 방어+조커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3" y="2514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7D32"/>
                </a:solidFill>
                <a:latin typeface="맑은 고딕"/>
              </a:defRPr>
            </a:pPr>
            <a:r>
              <a:t>25.6%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023" y="3063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ERR_NO_RACK_TILE 방어</a:t>
            </a:r>
            <a:br/>
            <a:r>
              <a:t>+ 조커 지원 개선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3977639"/>
            <a:ext cx="5577840" cy="2331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v8 → v9 핵심 변화 (+9.8%p 향상)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43484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ERR_NO_RACK_TILE 방어: AI가 손패에 없는 타일을 제안할 때 즉시 감지·필터링</a:t>
            </a:r>
          </a:p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조커 지원 개선: 조커(JK1/JK2) 포함 조합 제안 능력 향상</a:t>
            </a:r>
          </a:p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결과: G1=25.6%(10/39), G2=28.2%(11/39), G3=23.1%(9/39) — 평균 25.6%</a:t>
            </a:r>
          </a:p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25초 평균 응답 시간 (CPU 추론, 무료 로컬 실행)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841248"/>
            <a:ext cx="2926080" cy="5623560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950976"/>
            <a:ext cx="2706624" cy="540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실험 철학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"모델이 이해 못 하는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게 아니라 내가 제대로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물어보지 못한 것"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이 믿음이 v7, v8, v9를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만들었다.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v10 GO 조건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ERR_NO_RACK_TILE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완전 수정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G1 T73 오류 제거 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28%+ 가능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조커 확장 지원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하드웨어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LG Gram 15Z90R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i7-1360P / RAM 16GB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WSL2 + Docker Desktop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qwen2.5:3b (3B param)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CPU only 추론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UI 아키텍처 — pendingStore SSOT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Sprint 7 핵심 설계: 38개 파일 영향, 13개 deprecated 필드 제거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60120"/>
            <a:ext cx="5394960" cy="1115568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L4  통신 계층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90472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WebSocket / REST API</a:t>
            </a:r>
            <a:br/>
            <a:r>
              <a:t>서버 ↔ 클라이언트 동기화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075688"/>
            <a:ext cx="0" cy="18288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2258568"/>
            <a:ext cx="5394960" cy="1115568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500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L3  도메인 로직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useTurnActions / canConfirmTurn</a:t>
            </a:r>
            <a:br/>
            <a:r>
              <a:t>순수 함수 — 게임 규칙 적용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3374135"/>
            <a:ext cx="0" cy="18288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" y="3557015"/>
            <a:ext cx="5394960" cy="1115568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64845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L2  pendingStore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87368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단일 SSOT — 보드/손패 draft 상태</a:t>
            </a:r>
            <a:br/>
            <a:r>
              <a:t>handleDragEnd 9개 분기 통합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1800" y="4672583"/>
            <a:ext cx="0" cy="182881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4855464"/>
            <a:ext cx="5394960" cy="1115568"/>
          </a:xfrm>
          <a:prstGeom prst="roundRect">
            <a:avLst/>
          </a:prstGeom>
          <a:solidFill>
            <a:srgbClr val="81C784"/>
          </a:solidFill>
          <a:ln w="190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946903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L1  순수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385816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React 컴포넌트 — 상태 구독</a:t>
            </a:r>
            <a:br/>
            <a:r>
              <a:t>표시만, 로직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6172200"/>
            <a:ext cx="1389888" cy="475488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199632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38개 파일 수정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55648" y="6172200"/>
            <a:ext cx="1389888" cy="475488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55648" y="6199632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13개 필드 제거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36976" y="6172200"/>
            <a:ext cx="1389888" cy="475488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6199632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9개 분기 통합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18304" y="6172200"/>
            <a:ext cx="1389888" cy="475488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6199632"/>
            <a:ext cx="13898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단일 SSOT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841248"/>
            <a:ext cx="2926080" cy="5623560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950976"/>
            <a:ext cx="2706624" cy="540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이전 아키텍처 문제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gameStore + pending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Store 두 곳에 상태 분산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동일 데이터 13개 필드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중복 관리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drag 이벤트 처리 로직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컴포넌트에 혼재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pendingStore 개선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draft 단일 SSOT로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보드+손패 상태 통합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handleDragEnd 9개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분기를 한 곳에서 처리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• useTurnActions가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pendingStore 기반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  순수 함수로 재설계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000" b="1">
                <a:solidFill>
                  <a:srgbClr val="1B5E20"/>
                </a:solidFill>
                <a:latin typeface="맑은 고딕"/>
              </a:defRPr>
            </a:pPr>
            <a:r>
              <a:t>■ 핵심 원칙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"상태는 한 곳에서만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관리한다"</a:t>
            </a:r>
          </a:p>
          <a:p>
            <a:pPr>
              <a:spcAft>
                <a:spcPts val="300"/>
              </a:spcAft>
              <a:defRPr sz="950">
                <a:solidFill>
                  <a:srgbClr val="212121"/>
                </a:solidFill>
                <a:latin typeface="맑은 고딕"/>
              </a:defRPr>
            </a:pPr>
            <a:r>
              <a:t>= pendingStore.draft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게임룰 SSOT — 77개 룰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55-game-rules-enumeration.md 단일 기준점 — 코드 · 테스트 · UX가 같은 문서를 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14400"/>
            <a:ext cx="2011680" cy="36576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60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V-  유효성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22개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16459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103120"/>
            <a:ext cx="187451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그룹/런 조건, 초기 용융</a:t>
            </a:r>
            <a:br/>
            <a:r>
              <a:t>30점, 조커 규칙, V-22</a:t>
            </a:r>
            <a:br/>
            <a:r>
              <a:t>단독 승리 룰 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914400"/>
            <a:ext cx="2011680" cy="365760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960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UR- UI 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4173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40개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2029968"/>
            <a:ext cx="16459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103120"/>
            <a:ext cx="187451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드래그앤드롭 행동 36개</a:t>
            </a:r>
            <a:br/>
            <a:r>
              <a:t>피드백 색상 규칙</a:t>
            </a:r>
            <a:br/>
            <a:r>
              <a:t>타이머 16개 지점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0016" y="914400"/>
            <a:ext cx="2011680" cy="365760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960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D-  드로우/패널티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4173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9개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82896" y="2029968"/>
            <a:ext cx="16459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2103120"/>
            <a:ext cx="187451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Human=3장, AI=1장</a:t>
            </a:r>
            <a:br/>
            <a:r>
              <a:t>패널티 B안 확정</a:t>
            </a:r>
            <a:br/>
            <a:r>
              <a:t>타임아웃 강제 드로우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2864" y="914400"/>
            <a:ext cx="2011680" cy="36576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960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INV-무효화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1417320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6개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5744" y="2029968"/>
            <a:ext cx="16459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86016" y="2103120"/>
            <a:ext cx="1874519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잘못된 배치 무효</a:t>
            </a:r>
            <a:br/>
            <a:r>
              <a:t>ERR_NO_RACK_TILE</a:t>
            </a:r>
            <a:br/>
            <a:r>
              <a:t>재시도 최대 3회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663440"/>
            <a:ext cx="8595360" cy="1691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3659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활성 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77개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473659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결번 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5074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87878"/>
                </a:solidFill>
                <a:latin typeface="맑은 고딕"/>
              </a:defRPr>
            </a:pPr>
            <a:r>
              <a:t>1개 (UR-39 폐기)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344" y="473659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행동 매트릭스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95344" y="5074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맑은 고딕"/>
              </a:defRPr>
            </a:pPr>
            <a:r>
              <a:t>21개 행동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4416" y="473659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상태 머신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14416" y="5074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  <a:latin typeface="맑은 고딕"/>
              </a:defRPr>
            </a:pPr>
            <a:r>
              <a:t>12개 상태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473659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UX 매핑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5074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맑은 고딕"/>
              </a:defRPr>
            </a:pPr>
            <a:r>
              <a:t>43-rule-ux-sync-ssot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게임룰 SSOT가 없으면 구현이 사양을 추월한다. 77개 룰은 코드와 문서가 같은 언어로 말하게 하는 장치다.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타임아웃 체인 — 10개 지점 SSOT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부등식 계약: script_ws &gt; gs_ctx &gt; http_client &gt; istio_vs &gt; adapter &gt; llm_vendor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1417320" cy="118872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script_ws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819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1070s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E2E 테스트</a:t>
            </a:r>
            <a:br/>
            <a:r>
              <a:t>스크립트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1691640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783080" y="1097280"/>
            <a:ext cx="1417320" cy="118872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1704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gs_ctx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5819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1060s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Game Server</a:t>
            </a:r>
            <a:br/>
            <a:r>
              <a:t>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1691640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91840" y="1097280"/>
            <a:ext cx="1417320" cy="118872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1704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http_client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5819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1060s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HTTP 클라이언트</a:t>
            </a:r>
            <a:br/>
            <a:r>
              <a:t>(Go)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9160" y="1691640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00600" y="1097280"/>
            <a:ext cx="1417320" cy="118872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1704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istio_vs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5819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1010s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Istio</a:t>
            </a:r>
            <a:br/>
            <a:r>
              <a:t>VirtualService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0" y="1691640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60" y="1097280"/>
            <a:ext cx="1417320" cy="118872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1704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adapter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5819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1000s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AI Adapter</a:t>
            </a:r>
            <a:br/>
            <a:r>
              <a:t>내부 한도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26680" y="1691640"/>
            <a:ext cx="365760" cy="0"/>
          </a:xfrm>
          <a:prstGeom prst="line">
            <a:avLst/>
          </a:prstGeom>
          <a:ln w="3175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89520" y="1097280"/>
            <a:ext cx="1417320" cy="118872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11704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llm_vendor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58191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~900s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1965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LLM API</a:t>
            </a:r>
            <a:br/>
            <a:r>
              <a:t>(모델별 상이)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2514600"/>
            <a:ext cx="8595360" cy="50292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5786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1070 &gt; 1060 &gt; 1060 &gt; 1010 &gt; 1000 &gt; ~900  →  정상 응답이 fallback으로 오분류되지 않음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3200400"/>
            <a:ext cx="8595360" cy="23317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맑은 고딕"/>
              </a:defRPr>
            </a:pPr>
            <a:r>
              <a:t>2026-04-16 사고: 타임아웃 체인 부등식 위반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639312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원인: adapter 내부 한도(700s) &lt; istio_vs(1010s) — 계약 위반</a:t>
            </a:r>
          </a:p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증상: LLM이 정상 응답을 반환했지만 adapter가 먼저 타임아웃 → fallback으로 오분류</a:t>
            </a:r>
          </a:p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조치: adapter 1000s로 상향, 타임아웃 레지스트리 문서(41번) SSOT 확립</a:t>
            </a:r>
          </a:p>
          <a:p>
            <a:pPr>
              <a:spcAft>
                <a:spcPts val="5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교훈: 한 값을 바꿀 때 반드시 10개 지점 전수 체크 (41번 문서 §3+§5)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623560"/>
            <a:ext cx="8595360" cy="6858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68756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SSOT: docs/02-design/41-timeout-chain-breakdown.md  |  ConfigMap: AI_ADAPTER_TIMEOUT_SEC=1000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품질 지표 — 테스트 2,462건 최종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14400"/>
            <a:ext cx="2011680" cy="22860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87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Frontend</a:t>
            </a:r>
            <a:br/>
            <a:r>
              <a:t>Jest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087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659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37744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914400"/>
            <a:ext cx="2011680" cy="228600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987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Go 단위</a:t>
            </a:r>
            <a:br/>
            <a:r>
              <a:t>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5087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770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7744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914400"/>
            <a:ext cx="2011680" cy="228600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987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AI Adapter</a:t>
            </a:r>
            <a:br/>
            <a:r>
              <a:t>(NestJS)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5087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637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37744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864" y="914400"/>
            <a:ext cx="2011680" cy="228600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987552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E2E</a:t>
            </a:r>
            <a:br/>
            <a:r>
              <a:t>(Playwright)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1508760"/>
            <a:ext cx="1874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396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377440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337560"/>
            <a:ext cx="8595360" cy="64008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015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총계: 2,462 PASS  /  0 FAIL  — 63일 전체 기간 FAIL 0건 유지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114800"/>
            <a:ext cx="4160520" cy="21945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60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CI/CD 파이프라인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GitLab CI 17 stages — ALL GREEN (Pipeline #113+)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Trivy: Critical/High CVE = 0건 유지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SonarQube: 3개 프로젝트 Quality Gate PASS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Kaniko 빌드 → ArgoCD GitOps 자동 배포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K8s 7개 서비스 Running (rummikub ns)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4114800"/>
            <a:ext cx="4160520" cy="21945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160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보안 성과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5720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SEC-A: Go 1.25.9 + go-redis v9.7.3 (vuln 25→0)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SEC-B: Rate Limiting 강화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SEC-C: 인증/인가 완전 분리 (OAuth=identity only)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JWT fail-fast, dev-login 차단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Critical/High CVE 63일 내내 0건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K8s 운영 환경 — 현재 배포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namespace: rummikub | 7개 서비스 Running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60120"/>
            <a:ext cx="1371600" cy="658368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8813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1033272"/>
            <a:ext cx="416052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069848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12121"/>
                </a:solidFill>
                <a:latin typeface="맑은 고딕"/>
              </a:defRPr>
            </a:pPr>
            <a:r>
              <a:t>rummikub-frontend:lobby-fix-e7222d0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033272"/>
            <a:ext cx="228600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06984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Next.js 게임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088136"/>
            <a:ext cx="566928" cy="402336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124712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755648"/>
            <a:ext cx="1371600" cy="658368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8836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game-server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1828800"/>
            <a:ext cx="416052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1865376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12121"/>
                </a:solidFill>
                <a:latin typeface="맑은 고딕"/>
              </a:defRPr>
            </a:pPr>
            <a:r>
              <a:t>rummiarena/game-server:day5-8dc0999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828800"/>
            <a:ext cx="228600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86537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Go 게임 엔진 + 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883664"/>
            <a:ext cx="566928" cy="402336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920240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551176"/>
            <a:ext cx="1371600" cy="658368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6791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ai-adapter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2624328"/>
            <a:ext cx="416052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2660904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12121"/>
                </a:solidFill>
                <a:latin typeface="맑은 고딕"/>
              </a:defRPr>
            </a:pPr>
            <a:r>
              <a:t>rummiarena/ai-adapter:v9-ollama-place-8631831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2624328"/>
            <a:ext cx="228600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660904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NestJS LLM 연동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2679192"/>
            <a:ext cx="566928" cy="402336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715768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346704"/>
            <a:ext cx="1371600" cy="658368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474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ollama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37360" y="3419856"/>
            <a:ext cx="416052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4519" y="3456432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12121"/>
                </a:solidFill>
                <a:latin typeface="맑은 고딕"/>
              </a:defRPr>
            </a:pPr>
            <a:r>
              <a:t>ollama/ollama:latest (qwen2.5:3b PVC)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3419856"/>
            <a:ext cx="228600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456432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로컬 LLM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3474720"/>
            <a:ext cx="566928" cy="402336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511296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4142232"/>
            <a:ext cx="1371600" cy="658368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2702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postgres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37360" y="4215384"/>
            <a:ext cx="416052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74519" y="4251960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12121"/>
                </a:solidFill>
                <a:latin typeface="맑은 고딕"/>
              </a:defRPr>
            </a:pPr>
            <a:r>
              <a:t>postgres:16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4215384"/>
            <a:ext cx="228600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4251960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영속 데이터 DB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4270248"/>
            <a:ext cx="566928" cy="402336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4306824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RUN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937759"/>
            <a:ext cx="1371600" cy="658368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065775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redis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37360" y="5010912"/>
            <a:ext cx="416052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19" y="5047488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12121"/>
                </a:solidFill>
                <a:latin typeface="맑은 고딕"/>
              </a:defRPr>
            </a:pPr>
            <a:r>
              <a:t>redis:7-alpine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89320" y="5010912"/>
            <a:ext cx="228600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5047488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게임 상태 캐시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66760" y="5065775"/>
            <a:ext cx="566928" cy="402336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5102351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RUN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5733288"/>
            <a:ext cx="1371600" cy="658368"/>
          </a:xfrm>
          <a:prstGeom prst="roundRect">
            <a:avLst/>
          </a:prstGeom>
          <a:solidFill>
            <a:srgbClr val="787878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5861303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admin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37360" y="5806440"/>
            <a:ext cx="416052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74519" y="5843016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12121"/>
                </a:solidFill>
                <a:latin typeface="맑은 고딕"/>
              </a:defRPr>
            </a:pPr>
            <a:r>
              <a:t>rummiarena/admin:latest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89320" y="5806440"/>
            <a:ext cx="2286000" cy="51206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5843016"/>
            <a:ext cx="2148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맑은 고딕"/>
              </a:defRPr>
            </a:pPr>
            <a:r>
              <a:t>관리자 대시보드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66760" y="5861303"/>
            <a:ext cx="566928" cy="402336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5897879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RUN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" y="6556248"/>
            <a:ext cx="8595360" cy="36576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6019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ConfigMap: AI_ADAPTER_TIMEOUT_SEC=1000  |  GAME_MAX_TURNS_LIMIT=200  |  Istio VS ai-adapter timeout=1010s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동시접속 분석 — 100~200명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단일 노드(LG Gram) 기준 현실적 한계와 클라우드 확장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14400"/>
            <a:ext cx="420624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4206240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875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9875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Human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102412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200명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game-server replicas=3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방당 2~4명 × 50~100방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Redis/Postgres 충분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CPU 병목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914400"/>
            <a:ext cx="420624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59" y="914400"/>
            <a:ext cx="420624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599" y="9875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9875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API LLM 혼합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02412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10게임 동시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536192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DeepSeek/GPT 100초 블로킹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비용 제약: ~$0.4/게임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10게임 × 4턴 = 동시 처리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40 LLM 호출/시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840480"/>
            <a:ext cx="420624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4206240" cy="53035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136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1363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Ollama 로컬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39502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2~3게임 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CPU 단일 스레드 추론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qwen2.5:3b 25초/턴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동시 처리 불가 (큐잉)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GPU 있으면 10x 향상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840480"/>
            <a:ext cx="420624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59" y="3840480"/>
            <a:ext cx="420624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91363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91363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클라우드(GKE)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9502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$180~280/월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462272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3× game-server pods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GPU node (Ollama)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100~200명 안정 지원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예상 비용 $180~280/월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기술 부채 — 미해결 항목 및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1C784"/>
                </a:solidFill>
                <a:latin typeface="맑은 고딕"/>
              </a:defRPr>
            </a:pPr>
            <a:r>
              <a:t>프로젝트 종료 시점 식별된 부채 — 다음 버전 착수 시 우선 처리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33272"/>
            <a:ext cx="822960" cy="512064"/>
          </a:xfrm>
          <a:prstGeom prst="roundRect">
            <a:avLst/>
          </a:prstGeom>
          <a:solidFill>
            <a:srgbClr val="C6282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9848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014984"/>
            <a:ext cx="128016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069848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SEC-DEBT-001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014984"/>
            <a:ext cx="4434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next-auth v4→v5 이주 미완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069848"/>
            <a:ext cx="1645920" cy="4389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1064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frontend-dev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965960"/>
            <a:ext cx="822960" cy="512064"/>
          </a:xfrm>
          <a:prstGeom prst="roundRect">
            <a:avLst/>
          </a:prstGeom>
          <a:solidFill>
            <a:srgbClr val="C6282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002536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1947672"/>
            <a:ext cx="128016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00253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SEC-DEBT-003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947672"/>
            <a:ext cx="4434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WebSocket 인증 토큰 갱신 미구현</a:t>
            </a:r>
            <a:br/>
            <a:r>
              <a:t>(만료된 토큰 사용 가능성)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002536"/>
            <a:ext cx="1645920" cy="4389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0391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go-dev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898648"/>
            <a:ext cx="822960" cy="512064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935224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2880360"/>
            <a:ext cx="128016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935224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SEC-DEBT-004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880360"/>
            <a:ext cx="4434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Admin API Rate Limiting 미적용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2935224"/>
            <a:ext cx="1645920" cy="4389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9718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node-dev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831336"/>
            <a:ext cx="822960" cy="512064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867912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3813048"/>
            <a:ext cx="128016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386791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SEC-DEBT-005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813048"/>
            <a:ext cx="4434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Refresh Token Rotation 미구현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867912"/>
            <a:ext cx="1645920" cy="4389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904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go-dev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764024"/>
            <a:ext cx="822960" cy="512064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80060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4745736"/>
            <a:ext cx="128016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480060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P3-3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4745736"/>
            <a:ext cx="4434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DndContext GameRoom 이전 미완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4800600"/>
            <a:ext cx="1645920" cy="4389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8371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frontend-dev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696712"/>
            <a:ext cx="822960" cy="512064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5733288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FUTURE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8720" y="5678423"/>
            <a:ext cx="128016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4440" y="5733288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맑은 고딕"/>
              </a:defRPr>
            </a:pPr>
            <a:r>
              <a:t>v10 Ollama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5678423"/>
            <a:ext cx="4434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맑은 고딕"/>
              </a:defRPr>
            </a:pPr>
            <a:r>
              <a:t>ERR_NO_RACK_TILE 수정 → 30%+ 목표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5733288"/>
            <a:ext cx="1645920" cy="43891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57698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맑은 고딕"/>
              </a:defRPr>
            </a:pPr>
            <a:r>
              <a:t>ai-engineer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6556248"/>
            <a:ext cx="8595360" cy="36576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6019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식별된 부채는 반드시 타임라인과 처리 계획이 있어야 한다 — '나중에'는 없다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프로젝트 최종 성과 — 63일의 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4572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맑은 고딕"/>
              </a:defRPr>
            </a:pPr>
            <a:r>
              <a:t>RummiArena — LLM 전략 실험 플랫폼 | 프로젝트 종료 보고서 2026-05-10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2651760" cy="178308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972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750+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커밋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914400"/>
            <a:ext cx="2651760" cy="178308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972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110+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문서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914400"/>
            <a:ext cx="2651760" cy="1783080"/>
          </a:xfrm>
          <a:prstGeom prst="roundRect">
            <a:avLst/>
          </a:prstGeom>
          <a:solidFill>
            <a:srgbClr val="FF980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199" y="10972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2,462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199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테스트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926080"/>
            <a:ext cx="2651760" cy="1783080"/>
          </a:xfrm>
          <a:prstGeom prst="roundRect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108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게임룰 SSOT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926080"/>
            <a:ext cx="2651760" cy="178308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108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33.3%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AI 최고 배치율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2926080"/>
            <a:ext cx="2651760" cy="178308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199" y="3108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맑은 고딕"/>
              </a:defRPr>
            </a:pPr>
            <a:r>
              <a:t>17/17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3931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CI/CD 스테이지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029200"/>
            <a:ext cx="8595360" cy="1508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맑은 고딕"/>
              </a:defRPr>
            </a:pPr>
            <a:r>
              <a:t>이 프로젝트가 증명한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68112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13명의 에이전트가 63일 동안 단일 프로젝트를 완성할 수 있다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3B 파라미터 로컬 LLM도 프롬프트 엔지니어링으로 25.6% 배치율을 달성할 수 있다</a:t>
            </a:r>
          </a:p>
          <a:p>
            <a:pPr>
              <a:spcAft>
                <a:spcPts val="3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아키텍처 설계가 선행될 때 Phase D처럼 8.5 Story Point를 1.5시간에 처리할 수 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4114800"/>
            <a:ext cx="4572000" cy="365760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1C784"/>
                </a:solidFill>
                <a:latin typeface="맑은 고딕"/>
              </a:defRPr>
            </a:pPr>
            <a:r>
              <a:t>RummiArena 프로젝트 종료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91640"/>
            <a:ext cx="640080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F5E9"/>
                </a:solidFill>
                <a:latin typeface="맑은 고딕"/>
              </a:defRPr>
            </a:pPr>
            <a:r>
              <a:t>2026-03-08 ~ 2026-05-10  (63일)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13명의 에이전트가 함께 달렸습니다.</a:t>
            </a:r>
            <a:br/>
            <a:r>
              <a:t>archinect의 설계력, go-dev의 안정성, frontend-dev의 실행력,</a:t>
            </a:r>
            <a:br/>
            <a:r>
              <a:t>qa의 의심, ai-engineer의 끈기, 그리고 모든 팀원의 헌신이</a:t>
            </a:r>
            <a:br/>
            <a:r>
              <a:t>750+ 커밋과 2,462 테스트를 만들었습니다.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931920"/>
            <a:ext cx="640080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맑은 고딕"/>
              </a:defRPr>
            </a:pPr>
            <a:r>
              <a:t>"계획은 실행 시작 전까지만 유효하다"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맑은 고딕"/>
              </a:defRPr>
            </a:pPr>
            <a:r>
              <a:t>"Merge Gate는 속도를 늦추지 않는다"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C784"/>
                </a:solidFill>
                <a:latin typeface="맑은 고딕"/>
              </a:defRPr>
            </a:pPr>
            <a:r>
              <a:t>"데일리 로그와 세션 로그가 기억을 대체한다"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F5E9"/>
                </a:solidFill>
                <a:latin typeface="맑은 고딕"/>
              </a:defRPr>
            </a:pPr>
            <a:r>
              <a:t>— pm 최종 회고 中 —  RummiArena 2026-05-10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