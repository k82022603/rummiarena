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멀티 LLM 전략 실험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루미큐브 보드게임 기반  |  Human + AI 혼합 2~4인 실시간 대전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840480"/>
            <a:ext cx="4876495" cy="2540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3C623"/>
                </a:solidFill>
              </a:rPr>
              <a:t>기획/설계 검토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9999"/>
                </a:solidFill>
              </a:rPr>
              <a:t>2026-03-11  |  Phase 1 Sprint 0  |  작성: 애벌레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Next.js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NestJS/Go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PostgreSQL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7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Redis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9744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Claude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DeepSeek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39712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Ollama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16368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K8s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ArgoCD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Helm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46336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Istio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188720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1704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프로젝트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173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목적, 범위, 이해관계자, 성공 기준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1627632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371600" y="1700784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목표 시스템 구성도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929384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전체 서비스 구성 및 데이터 흐름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2139696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371600" y="2212848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194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논리 아키텍처 구성도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4414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계층별 컴포넌트 분리 및 인터페이스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20240" y="2651760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371600" y="2724912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7066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물리 아키텍처 구성도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953512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Kubernetes 배포 토폴로지 및 리소스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20240" y="3163824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371600" y="3236976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2186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네트워크 구성도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465576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Ingress 라우팅, 서비스 통신, 외부 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675888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371600" y="3749040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7307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데이터 아키텍처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9776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PostgreSQL 스키마, Redis 구조, ER 다이어그램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20240" y="4187952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371600" y="4261104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2428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AI Adapter 설계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489704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멀티 LLM 인터페이스, 캐릭터 시스템, 비용 제어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920240" y="4700016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371600" y="4773168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4754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게임 세션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00176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생명주기, 턴 관리, 장애 복구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0240" y="5212080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371600" y="5285232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2669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WBS / 프로젝트 일정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5513832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Sprint-Phase 매핑, 의존관계, 마일스톤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920240" y="5724144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371600" y="5797296"/>
            <a:ext cx="411480" cy="3657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57790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핵심 설계 원칙 &amp; 제약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6025896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LLM 신뢰 금지, Stateless, 하드웨어 제약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920240" y="6236208"/>
            <a:ext cx="859536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01. 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프로젝트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프로젝트명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RummiArena - 멀티 LLM 전략 실험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190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7190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내부 AI 실험 프로젝트 (외부 서비스 수준 설계)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665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기간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0665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2026-03-08 ~ 2026-08-15 (약 23주)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140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4140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Sprint 0~9 (2주 주기) + 운영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인원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761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1인 (PM/설계/개발/운영: 애벌레)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저장소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108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github.com/k82022603/RummiArena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핵심 목표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371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463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D6"/>
                </a:solidFill>
              </a:rPr>
              <a:t>멀티 LLM 전략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783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OpenAI, Claude, DeepSeek, LLaMA
게임 전략 실험/비교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371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63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88D"/>
                </a:solidFill>
              </a:rPr>
              <a:t>풀스택 플랫폼 엔지니어링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783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K8s, GitOps, DevSecOps
전체 사이클 실습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514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606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6B35"/>
                </a:solidFill>
              </a:rPr>
              <a:t>실시간 멀티플레이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26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WebSocket 기반
2~4인 Human+AI 대전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2514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606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59B6"/>
                </a:solidFill>
              </a:rPr>
              <a:t>SaaS 수준 아키텍처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926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내부 실험이지만
외부 공개 가능한 설계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성공 기준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게임 완주율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88D"/>
                </a:solidFill>
              </a:rPr>
              <a:t>95%+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6596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574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AI 대전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96D6"/>
                </a:solidFill>
              </a:rPr>
              <a:t>100판+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LLM 동시참가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</a:rPr>
              <a:t>3개 모델+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204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CI 파이프라인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B59B6"/>
                </a:solidFill>
              </a:rPr>
              <a:t>5분 이내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Pod 복구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4F5F"/>
                </a:solidFill>
              </a:rPr>
              <a:t>30초 이내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524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2668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코드 커버리지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8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3C623"/>
                </a:solidFill>
              </a:rPr>
              <a:t>60%+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5256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보안 취약점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88D"/>
                </a:solidFill>
              </a:rPr>
              <a:t>Critical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6988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6132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AI 턴 응답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6132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96D6"/>
                </a:solidFill>
              </a:rPr>
              <a:t>10초 이내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범위 (Scope)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440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In: 게임 엔진 / 연습 모드(Stage 1~6) / 멀티플레이 / OAuth / AI 4종 / 캐릭터 시스템 / ELO / 관리자 / K8s / GitOps / DevSecOps / 카카오톡 알림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4F5F"/>
                </a:solidFill>
              </a:rPr>
              <a:t>Out: 모바일 앱 / 결제 / 100+ 동시 사용자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02. 목표 시스템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Target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사용자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128016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Browser
(Human Player)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128016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Admin
(관리자)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960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CCCC"/>
                </a:solidFill>
              </a:rPr>
              <a:t>Ingress (NGINX)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325880"/>
            <a:ext cx="1463040" cy="14630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NGINX
Ingress
Controller
TLS 종단
라우팅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1645920"/>
            <a:ext cx="548640" cy="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37360" y="2194560"/>
            <a:ext cx="548640" cy="27432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06240" y="1097280"/>
            <a:ext cx="1463040" cy="5943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Frontend
(Next.js :3000)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874519"/>
            <a:ext cx="1463040" cy="5943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Admin Panel
(Next.js :3001)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749039" y="1371600"/>
            <a:ext cx="457201" cy="13716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49039" y="2148840"/>
            <a:ext cx="457201" cy="4572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914400"/>
            <a:ext cx="2194560" cy="25603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960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B88D"/>
                </a:solidFill>
              </a:rPr>
              <a:t>Game Server (:8080)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32588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WebSocket +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2024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Game Engine
(규칙 검증)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1460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Session Manager
(세션/턴 관리)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0" y="13716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0" y="10972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WS/REST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0" y="214884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0" y="23317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데이터 계층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114800"/>
            <a:ext cx="1371600" cy="731520"/>
          </a:xfrm>
          <a:prstGeom prst="roundRect">
            <a:avLst/>
          </a:prstGeom>
          <a:solidFill>
            <a:srgbClr val="8B2020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Redis 7
(게임 상태/캐시)
:6379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4114800"/>
            <a:ext cx="1463040" cy="731520"/>
          </a:xfrm>
          <a:prstGeom prst="roundRect">
            <a:avLst/>
          </a:prstGeom>
          <a:solidFill>
            <a:srgbClr val="1A3A6B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PostgreSQL 16
(영속 데이터)
:5432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858000" y="3474720"/>
            <a:ext cx="457200" cy="640080"/>
          </a:xfrm>
          <a:prstGeom prst="line">
            <a:avLst/>
          </a:prstGeom>
          <a:ln w="2540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98079" y="3474720"/>
            <a:ext cx="1005841" cy="64008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144000" y="914400"/>
            <a:ext cx="2560320" cy="25603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960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59B6"/>
                </a:solidFill>
              </a:rPr>
              <a:t>AI Adapter (:8081)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132588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PromptBuilder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69880" y="132588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ResponseParser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5440" y="187452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RetryHandler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187452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MetricsCollector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35440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OpenAI
Adapter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7232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Claude
Adapter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79024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DeepSeek
Adapter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100816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Ollama
Adapter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0" y="1828800"/>
            <a:ext cx="731520" cy="0"/>
          </a:xfrm>
          <a:prstGeom prst="line">
            <a:avLst/>
          </a:prstGeom>
          <a:ln w="2540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0" y="15727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gRPC/REST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외부 LLM APIs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OpenAI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Claude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DeepSeek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484632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Ollama
(Local)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0058400" y="3474720"/>
            <a:ext cx="365760" cy="640080"/>
          </a:xfrm>
          <a:prstGeom prst="line">
            <a:avLst/>
          </a:prstGeom>
          <a:ln w="1905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5720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외부 시스템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4114800"/>
            <a:ext cx="12801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Google OAuth 2.0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846320"/>
            <a:ext cx="12801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Kakao Message API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1737360" y="3474720"/>
            <a:ext cx="4480560" cy="914400"/>
          </a:xfrm>
          <a:prstGeom prst="line">
            <a:avLst/>
          </a:prstGeom>
          <a:ln w="12700">
            <a:solidFill>
              <a:srgbClr val="00B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737360" y="3474720"/>
            <a:ext cx="4480560" cy="1645920"/>
          </a:xfrm>
          <a:prstGeom prst="line">
            <a:avLst/>
          </a:prstGeom>
          <a:ln w="127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7432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99999"/>
                </a:solidFill>
              </a:rPr>
              <a:t>실선: 데이터 흐름  |  색상: 서비스 영역 구분  |  포트는 K8s Service 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03. 논리 아키텍처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Logical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0584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Presentation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25880"/>
            <a:ext cx="256032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Browser (Next.js)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UI
dnd-kit 드래그&amp;드롭
WebSocket 클라이언트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256032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Admin Panel (Next.js)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관리자 대시보드
게임 모니터링
AI 통계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42316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414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Application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Auth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Google OAuth
JWT 발급/검증
RBAC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Room 관리
턴 오케스트레이션
세션 생명주기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Engine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타일 유효성 검증
규칙 판정
승리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AI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Adapter 선택
프롬프트 빌드
응답 파싱/재시도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587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Domain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Tile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타일 인코딩
{Color}{Num}{Set}
R7a, JK1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상태 Enum
WAITING→PLAYING
→FINISHED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Player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Human/AI 플레이어
ELO 레이팅
캐릭터 시스템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Practice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연습 모드
Stage 1~6
목표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16636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84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Infrastructure Layer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Redis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상태 R/W
TTL 관리
Pub/Sub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PostgreSQL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유저/전적 CRUD
ELO 이력
이벤트 로그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LLM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OpenAI / Claude
DeepSeek / Ollama
HTTP/gRPC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WebSocket Server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연결 관리
이벤트 브로드캐스트
재연결 처리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04. 물리 아키텍처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Physical Architecture (Kubernetes)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0120"/>
            <a:ext cx="11612880" cy="557784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LG Gram 15Z90R  |  Windows 11 + WSL2  |  RAM 16GB  |  i7-1360P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2020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66"/>
                </a:solidFill>
              </a:rPr>
              <a:t>WSL2 (Ubuntu)  |  Memory: 10~14GB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7772400" cy="4526280"/>
          </a:xfrm>
          <a:prstGeom prst="roundRect">
            <a:avLst/>
          </a:prstGeom>
          <a:solidFill>
            <a:srgbClr val="1A1A30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83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Docker Desktop Kubernetes (docker-desktop)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03120"/>
            <a:ext cx="7406640" cy="4023360"/>
          </a:xfrm>
          <a:prstGeom prst="roundRect">
            <a:avLst/>
          </a:prstGeom>
          <a:solidFill>
            <a:srgbClr val="18182E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148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88D"/>
                </a:solidFill>
              </a:rPr>
              <a:t>Namespace: rummikub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96D6"/>
                </a:solidFill>
              </a:rP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:3000
replicas: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128Mi/256Mi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88D"/>
                </a:solidFill>
              </a:rPr>
              <a:t>game-server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NestJS/Go
:8080
replicas: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256Mi/512Mi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B59B6"/>
                </a:solidFill>
              </a:rPr>
              <a:t>ai-adapter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NestJS/Go
:8081
replicas: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256Mi/512Mi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96D6"/>
                </a:solidFill>
              </a:rPr>
              <a:t>admin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:3001
replicas: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128Mi/256Mi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4251960"/>
            <a:ext cx="1645920" cy="10972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StatefulSet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04F5F"/>
                </a:solidFill>
              </a:rPr>
              <a:t>Redis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StatefulSet
:6379
100Mi/200Mi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4251960"/>
            <a:ext cx="1645920" cy="10972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StatefulSet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366CC"/>
                </a:solidFill>
              </a:rPr>
              <a:t>PostgreSQL 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StatefulSet + PVC
:5432
256Mi/512Mi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63440" y="4251960"/>
            <a:ext cx="1645920" cy="1097280"/>
          </a:xfrm>
          <a:prstGeom prst="roundRect">
            <a:avLst/>
          </a:prstGeom>
          <a:solidFill>
            <a:srgbClr val="22223E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K8s 밖 실행 (선택)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3C623"/>
                </a:solidFill>
              </a:rPr>
              <a:t>Ollama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LLaMA 1B~3B
:11434
~3GB RAM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737360"/>
            <a:ext cx="3017520" cy="45262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교대 실행 전략 (리소스 제약)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69680" y="219456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6840" y="22402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개발 모드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24688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앱 + Redis + PG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2697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~6GB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69680" y="315468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840" y="32004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CI/CD 모드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3429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ArgoCD + Runner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36576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~6GB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11480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06840" y="4160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B59B6"/>
                </a:solidFill>
              </a:rPr>
              <a:t>품질 모드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4389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SonarQube (단독)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4617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~4GB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69680" y="507492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6840" y="5120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C623"/>
                </a:solidFill>
              </a:rPr>
              <a:t>AI 실험 모드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3492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Ollama + 1~3B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~5GB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5989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4F5F"/>
                </a:solidFill>
              </a:rPr>
              <a:t>* 모든 서비스 동시 실행 불가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05. 네트워크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Network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External (Internet)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Google OAuth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Kakao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LLM APIs
(OpenAI, Claude
DeepSeek)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377440"/>
            <a:ext cx="11430000" cy="109728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CCCC"/>
                </a:solidFill>
              </a:rPr>
              <a:t>NGINX Ingress Controller  (TLS Termination, self-signed cert)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96D6"/>
                </a:solidFill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frontend:3000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B88D"/>
                </a:solidFill>
              </a:rPr>
              <a:t>/api/*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game-server:8080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B88D"/>
                </a:solidFill>
              </a:rPr>
              <a:t>/ws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game-server:8080
(WebSocket Upgrade)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96D6"/>
                </a:solidFill>
              </a:rPr>
              <a:t>/admin/*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admin:3001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88720" y="2011680"/>
            <a:ext cx="0" cy="36576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210312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HTTPS / WSS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749039"/>
            <a:ext cx="11430000" cy="1371600"/>
          </a:xfrm>
          <a:prstGeom prst="roundRect">
            <a:avLst/>
          </a:prstGeom>
          <a:solidFill>
            <a:srgbClr val="18182E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ClusterIP Services  (K8s Internal Network, Namespace: rummikub)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frontend
ClusterIP
:3000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game-server
ClusterIP
:8080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ai-adapter
ClusterIP
:8081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admin
ClusterIP
:3001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redis
ClusterIP
:6379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postgres
ClusterIP
:5432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서비스 간 통신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623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redis:6379 (TCP, 게임 상태 R/W)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postgres:5432 (TCP, 유저/전적/로그)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ai-adapter:8081 (HTTP/gRPC, AI 행동 요청)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623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ai-adapter -&gt; LLM APIs (HTTPS, 외부 모델 호출)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ai-adapter -&gt; ollama:11434 (HTTP, 로컬 모델 - K8s 밖)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3492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59B6"/>
                </a:solidFill>
              </a:rPr>
              <a:t>Phase 5 (Sprint 9): Istio mTLS, VirtualService, DestinationRule 추가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06. 데이터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PostgreSQL 16 (영속 데이터)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id, email, display_name
elo_rating, role, is_blocked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37160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games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id, room_code, status
game_mode, settings(JSONB)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0604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51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game_players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player_type, seat_order
ai_persona, ai_difficulty
ai_psychology_level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260604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651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59B6"/>
                </a:solidFill>
              </a:rPr>
              <a:t>ai_call_logs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260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player_type, model_name
ai_persona, latency_ms
prompt/completion_tokens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404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862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game_events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turn_number, event_type
event_data(JSONB)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8404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8862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C623"/>
                </a:solidFill>
              </a:rPr>
              <a:t>elo_history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rating_before/after
rating_delta, k_factor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7492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practice_sessions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949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stage(1~6), status
objectives, result(JSONB)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69280"/>
            <a:ext cx="5669280" cy="41148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87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system_config: turn_timeout_sec=60, ai_max_retries=3, ai_timeout_ms=10000, max_rooms=10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Redis 7 (실시간 상태)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13716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3990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4F5F"/>
                </a:solidFill>
              </a:rPr>
              <a:t>game:{id}:state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13990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status, currentTurn,
currentPlayer, drawPileCount
TTL: 7200s (매 턴 갱신)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0574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2084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B35"/>
                </a:solidFill>
              </a:rPr>
              <a:t>game:{id}:player:{seat}:tiles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20848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List: ["R1a","B5a","JK1",...]
TTL: 7200s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27432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27706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96D6"/>
                </a:solidFill>
              </a:rPr>
              <a:t>game:{id}:drawpile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27706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List: 셔플된 타일 목록
TTL: 7200s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4290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4564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B59B6"/>
                </a:solidFill>
              </a:rPr>
              <a:t>game:{id}:stalemate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0" y="34564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consecutiveDrawCount,
lastPlaceTurn
TTL: 7200s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41148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1422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game:{id}:timer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4142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String: 만료 Unix timestamp
TTL: 30~120s (턴 설정)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48006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0840" y="48280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88D"/>
                </a:solidFill>
              </a:rPr>
              <a:t>session:{id}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48280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userId, gameId
TTL: 1800s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0" y="54864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20840" y="5513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4F5F"/>
                </a:solidFill>
              </a:rPr>
              <a:t>quota:daily:{date}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5138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totalCalls, totalCost
모델별 호출수/비용
TTL: 172800s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6263640"/>
            <a:ext cx="5029200" cy="32004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20840" y="62819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타일 인코딩: {Color}{Number}{Set}  |  R7a=빨강7(a), B13b=파랑13(b), JK1=조커1  |  총 106장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07. AI Adapter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AI Adapter Architecture &amp; Character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요청 흐름 (LLM 신뢰 금지)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 Server
턴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PromptBuilder
게임상태→프롬프트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LLM API
모델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ResponseParser
JSON 파싱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 Engine
유효성 검증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490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066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0" y="21031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4F5F"/>
                </a:solidFill>
              </a:rPr>
              <a:t>무효 -&gt; 재요청(max 3회) -&gt; 전부 실패 -&gt; 강제 드로우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1371600" cy="640080"/>
          </a:xfrm>
          <a:prstGeom prst="roundRect">
            <a:avLst/>
          </a:prstGeom>
          <a:solidFill>
            <a:srgbClr val="5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실패 시
강제 드로우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1691640"/>
            <a:ext cx="365760" cy="0"/>
          </a:xfrm>
          <a:prstGeom prst="line">
            <a:avLst/>
          </a:prstGeom>
          <a:ln w="1905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AI 캐릭터 시스템 (6 x 3 x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B88D"/>
                </a:solidFill>
              </a:rPr>
              <a:t>Rookie
(루키)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순진, 실수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657600"/>
            <a:ext cx="822960" cy="228600"/>
          </a:xfrm>
          <a:prstGeom prst="round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하수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Calculator
(칼큘레이터)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논리적, 차분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657600"/>
            <a:ext cx="822960" cy="22860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04F5F"/>
                </a:solidFill>
              </a:rPr>
              <a:t>Shark
(샤크)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공격적, 압박형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3657600"/>
            <a:ext cx="822960" cy="228600"/>
          </a:xfrm>
          <a:prstGeom prst="round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고수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Fox
(폭스)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교활, 전략형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657600"/>
            <a:ext cx="822960" cy="2286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고수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388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66CC"/>
                </a:solidFill>
              </a:rPr>
              <a:t>Wall
(월)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수비적, 끈질김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3657600"/>
            <a:ext cx="822960" cy="228600"/>
          </a:xfrm>
          <a:prstGeom prst="round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0412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Wildcard
(와일드카드)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2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예측불가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3657600"/>
            <a:ext cx="822960" cy="2286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난이도별 정보 제한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하수 (Beginner)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경량 모델
gpt-4o-mini, llama3.2:1b
내 타일+테이블만
재배치 불가, 심리전 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768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중수 (Intermediate)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중급 모델
gpt-4o-mini, deepseek
+ 상대 남은 수
기본 재배치, 심리전 1~2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고수 (Expert)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최상위 모델
gpt-4o, claude-sonnet
+ 히스토리+미출현 타일
적극 재배치, 심리전 2~3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126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비용 제어: 사용자당 500회/일, 게임당 200회, 일일 $10 한도  |  프롬프트 토큰 예산: 2,000 이내  |  히스토리: 최근 N턴 제한 (난이도별 차등)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08. 게임 세션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Game Session Lifecycle &amp; Turn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세션 생명주기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1828800" cy="7315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WAITING
Room 생성, 플레이어 대기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371600"/>
            <a:ext cx="1828800" cy="7315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PLAYING
게임 진행, 턴 순환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188720"/>
            <a:ext cx="1828800" cy="5943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FINISHED
정상 종료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920240"/>
            <a:ext cx="1828800" cy="5943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CANCELLED
비정상 종료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1737360"/>
            <a:ext cx="91440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743200" y="1463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호스트 시작
(2명+)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1508760"/>
            <a:ext cx="91440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0" y="12801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승자 확정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0" y="1920240"/>
            <a:ext cx="914400" cy="228600"/>
          </a:xfrm>
          <a:prstGeom prst="line">
            <a:avLst/>
          </a:prstGeom>
          <a:ln w="2540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1188720"/>
            <a:ext cx="3017520" cy="137160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234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종료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50876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1. 승자 판정
2. 점수 계산 (조커=30점)
3. ELO 레이팅 업데이트
4. PostgreSQL 저장
5. game:ended 이벤트
6. Redis TTL 600s로 단축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턴 관리 흐름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00400"/>
            <a:ext cx="530352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C623"/>
                </a:solidFill>
              </a:rPr>
              <a:t>Human 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turn:start
이벤트 전송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92024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타이머 시작
30~120초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20040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드래그&amp;드롭
타일 배치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9768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80559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turn:confirm
검증 요청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297680"/>
            <a:ext cx="2286000" cy="411480"/>
          </a:xfrm>
          <a:prstGeom prst="roundRect">
            <a:avLst/>
          </a:prstGeom>
          <a:solidFill>
            <a:srgbClr val="3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타임아웃 -&gt; 자동 드로우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4297680"/>
            <a:ext cx="2286000" cy="411480"/>
          </a:xfrm>
          <a:prstGeom prst="roundRect">
            <a:avLst/>
          </a:prstGeom>
          <a:solidFill>
            <a:srgbClr val="1A3A1A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유효 -&gt; 적용 -&gt; 다음 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200400"/>
            <a:ext cx="530352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59B6"/>
                </a:solidFill>
              </a:rPr>
              <a:t>AI 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ai:thinking
사고 중 표시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49808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8096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AI Adapter
LLM 호출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7824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96112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Engine 검증
유효성 확인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241279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turn:action
결과 브로드캐스트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297680"/>
            <a:ext cx="2286000" cy="411480"/>
          </a:xfrm>
          <a:prstGeom prst="roundRect">
            <a:avLst/>
          </a:prstGeom>
          <a:solidFill>
            <a:srgbClr val="3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3회 실패 -&gt; 강제 드로우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4297680"/>
            <a:ext cx="2286000" cy="411480"/>
          </a:xfrm>
          <a:prstGeom prst="roundRect">
            <a:avLst/>
          </a:prstGeom>
          <a:solidFill>
            <a:srgbClr val="1A3A1A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유효 -&gt; 적용 -&gt; 다음 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연결 끊김 / 장애 복구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C623"/>
                </a:solidFill>
              </a:rPr>
              <a:t>Human 끊김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30초 재연결 유예
-&gt; 자동 드로우
-&gt; 3턴 부재시 제외
-&gt; 2명 미만시 종료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B59B6"/>
                </a:solidFill>
              </a:rPr>
              <a:t>AI 장애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재시도 max 3회
-&gt; 강제 드로우
-&gt; 5회 연속시
   AI 비활성화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936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서버 재시작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Redis 스캔
-&gt; 타이머 복구
-&gt; 30초 재연결 대기
-&gt; 복구 or 종료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3544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ELO 규칙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정상 종료만 적용
CANCELLED 미적용
연습 모드 미적용
K=32/40/24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09. WBS / 프로젝트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Work Breakdown Structure &amp;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프로젝트 타임라인 (23주)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05834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389888"/>
            <a:ext cx="132963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99999"/>
                </a:solidFill>
              </a:rPr>
              <a:t>S0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27632"/>
            <a:ext cx="132963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기획
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194560"/>
            <a:ext cx="132963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03/08
~03/28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8434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39234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9234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게임
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9234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03/29
~04/11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42591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3391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3391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백엔드
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3391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04/12
~04/25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6747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7547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7547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프론트
연습모드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7547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04/26
~05/09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0904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1704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S4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1704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AI
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1704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05/10
~05/23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05060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55860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S5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55860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멀티
플레이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55860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05/24
~06/06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9217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0017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6B35"/>
                </a:solidFill>
              </a:rPr>
              <a:t>S6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0017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관리자
랭킹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10017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06/07
~06/20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13373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4173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4173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Observ
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4173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06/21
~07/04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67530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8330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18330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보안
고도화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18330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07/05
~07/18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21686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72486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72486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Service
Mesh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72486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07/19
~08/01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75843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6643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3C623"/>
                </a:solidFill>
              </a:rPr>
              <a:t>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26643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운영
실험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6643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08/02
~08/15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2788920"/>
            <a:ext cx="143123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99999"/>
                </a:solidFill>
              </a:rPr>
              <a:t>Phase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8434" y="2788920"/>
            <a:ext cx="286246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Phase 2 (MVP)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0904" y="2788920"/>
            <a:ext cx="190831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Phase 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9217" y="2788920"/>
            <a:ext cx="9541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6B35"/>
                </a:solidFill>
              </a:rPr>
              <a:t>Phase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3373" y="2788920"/>
            <a:ext cx="286246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Phase 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5843" y="2788920"/>
            <a:ext cx="9541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3C623"/>
                </a:solidFill>
              </a:rPr>
              <a:t>Phase 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Sprint별 주요 산출물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기획 문서 5종
설계 문서 5종
K8s/ArgoCD/GitLab
Backend 기술 결정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7744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1~3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6888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게임 엔진 (검증/턴)
REST+WebSocket API
Redis/PG 연동
Next.js UI, 연습 모드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9768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4~5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AI Adapter 4종
캐릭터 시스템
프롬프트 설계
Human+AI 통합 대전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936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관리자 대시보드
ELO 랭킹 시스템
카카오톡 알림
AI 통계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3816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7~9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Prometheus/Grafana
SonarQube/Trivy/ZAP
Istio/Kiali/Jaeger
k6 부하 테스트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05840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4984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운영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AI vs AI 토너먼트
모델별 전략 분석
프롬프트 최적화
운영 가이드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Sprint 의존 관계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S0 -&gt; S1 (Backend 결정)  |  S1 -&gt; S2 (엔진 로직)  |  S1,S2 -&gt; S3 (API+엔진)  |  S2 -&gt; S4 (API 연동)  |  S3,S4 -&gt; S5 (통합)  |  S5 -&gt; S6 -&gt; S7 -&gt; S8 -&gt; S9 -&gt; 운영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6035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핵심 마일스톤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2026-03-28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기획 완료, 인프라 구축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2026-05-09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4904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MVP (게임 엔진+API+UI)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1208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2026-06-06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 대전 완성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952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2026-08-01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0392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DevSecOps 고도화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2026-08-15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8136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프로젝트 완료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10. 핵심 설계 원칙 &amp; 제약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Key Design Principles &amp;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핵심 설계 원칙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65760" cy="320040"/>
          </a:xfrm>
          <a:prstGeom prst="round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LLM 신뢰 금지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LLM은 행동 '제안'만 수행
Game Engine이 모든 유효성 검증
무효 시 재요청(3회) → 강제 드로우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1417320"/>
            <a:ext cx="36576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AI Adapter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 Engine은 특정 LLM에 의존 안 함
공통 인터페이스(MoveRequest/Response)
모델 교체 가능, Istio 트래픽 분배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365760" cy="320040"/>
          </a:xfrm>
          <a:prstGeom prst="round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Stateless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게임 상태는 Redis에 저장
Pod 재시작 시 게임 유지
Redis Pub/Sub로 수평 확장 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9720" y="1417320"/>
            <a:ext cx="36576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GitOps + DevSecOps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소스 repo ↔ GitOps repo 분리
ArgoCD Helm 기반 자동 배포
SonarQube + Trivy + ZAP 보안 게이트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기술 스택 요약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TailwindCSS
Framer Motion
dnd-kit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B88D"/>
                </a:solidFill>
              </a:rPr>
              <a:t>Backend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 or Go
(Sprint 0 내 결정)
WebSocket
REST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328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Database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PostgreSQL 16
Redis 7
8 테이블
7 Redis 키 패턴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9204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204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OpenAI API
Claude API
DeepSeek API
Ollama (LLaMA)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04F5F"/>
                </a:solidFill>
              </a:rPr>
              <a:t>Infra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Docker Desktop K8s
Helm 3
ArgoCD
NGINX Ingress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3C623"/>
                </a:solidFill>
              </a:rPr>
              <a:t>Quality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SonarQube
Trivy
OWASP ZAP
k6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3544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Auth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Google OAuth 2.0
JWT + RBAC
ADMIN / USER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69848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420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Notification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Kakao
Message API
게임 결과/알림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주요 제약 사항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06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RAM 16GB: 교대 실행 전략 필수, 모든 서비스 동시 실행 불가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- 1인 개발: 23주 10 Sprint, 2주 주기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GPU 없음: Ollama 3B 이하 모델만 로컬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6080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LLM 비용: 일일 $10 한도, 호출 수 제한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