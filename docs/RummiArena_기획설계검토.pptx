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96D6"/>
                </a:solidFill>
              </a:rPr>
              <a:t>RummiArena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멀티 LLM 전략 실험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</a:rPr>
              <a:t>루미큐브 보드게임 기반  |  Human + AI 혼합 2~4인 실시간 대전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3840480"/>
            <a:ext cx="4876495" cy="254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3C623"/>
                </a:solidFill>
              </a:rPr>
              <a:t>기획/설계 검토 발표자료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846320"/>
            <a:ext cx="121916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9999"/>
                </a:solidFill>
              </a:rPr>
              <a:t>2026-03-11  |  Phase 1 Sprint 0  |  작성: 애벌레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5760720"/>
            <a:ext cx="640080" cy="256032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CCCC"/>
                </a:solidFill>
              </a:rPr>
              <a:t>Next.js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9776" y="5760720"/>
            <a:ext cx="640080" cy="256032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CCCC"/>
                </a:solidFill>
              </a:rPr>
              <a:t>NestJS/Go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5760720"/>
            <a:ext cx="640080" cy="256032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CCCC"/>
                </a:solidFill>
              </a:rPr>
              <a:t>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33087" y="5760720"/>
            <a:ext cx="640080" cy="256032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CCCC"/>
                </a:solidFill>
              </a:rPr>
              <a:t>Redis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9744" y="5760720"/>
            <a:ext cx="640080" cy="256032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CCCC"/>
                </a:solidFill>
              </a:rPr>
              <a:t>OpenAI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5760720"/>
            <a:ext cx="640080" cy="256032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CCCC"/>
                </a:solidFill>
              </a:rPr>
              <a:t>Claude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5760720"/>
            <a:ext cx="640080" cy="256032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CCCC"/>
                </a:solidFill>
              </a:rPr>
              <a:t>DeepSeek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39712" y="5760720"/>
            <a:ext cx="640080" cy="256032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CCCC"/>
                </a:solidFill>
              </a:rPr>
              <a:t>Ollama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16368" y="5760720"/>
            <a:ext cx="640080" cy="256032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CCCC"/>
                </a:solidFill>
              </a:rPr>
              <a:t>K8s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5760720"/>
            <a:ext cx="640080" cy="256032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CCCC"/>
                </a:solidFill>
              </a:rPr>
              <a:t>ArgoCD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5760720"/>
            <a:ext cx="640080" cy="256032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CCCC"/>
                </a:solidFill>
              </a:rPr>
              <a:t>Helm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46336" y="5760720"/>
            <a:ext cx="640080" cy="256032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CCCCC"/>
                </a:solidFill>
              </a:rPr>
              <a:t>Istio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777240"/>
            <a:ext cx="12191695" cy="36576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</a:rP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96D6"/>
                </a:solidFill>
              </a:rPr>
              <a:t>RummiArena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188720"/>
            <a:ext cx="347472" cy="29260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1704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프로젝트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3716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목적, 범위, 이해관계자, 성공 기준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1536192"/>
            <a:ext cx="8686800" cy="0"/>
          </a:xfrm>
          <a:prstGeom prst="line">
            <a:avLst/>
          </a:prstGeom>
          <a:ln w="6350">
            <a:solidFill>
              <a:srgbClr val="4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371600" y="1581912"/>
            <a:ext cx="347472" cy="29260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56362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목표 시스템 구성도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76479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전체 서비스 구성 및 데이터 흐름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28800" y="1929384"/>
            <a:ext cx="8686800" cy="0"/>
          </a:xfrm>
          <a:prstGeom prst="line">
            <a:avLst/>
          </a:prstGeom>
          <a:ln w="6350">
            <a:solidFill>
              <a:srgbClr val="4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371600" y="1975104"/>
            <a:ext cx="347472" cy="29260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195681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논리 아키텍처 구성도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15798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계층별 컴포넌트 분리 및 인터페이스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28800" y="2322576"/>
            <a:ext cx="8686800" cy="0"/>
          </a:xfrm>
          <a:prstGeom prst="line">
            <a:avLst/>
          </a:prstGeom>
          <a:ln w="6350">
            <a:solidFill>
              <a:srgbClr val="4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371600" y="2368296"/>
            <a:ext cx="347472" cy="29260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3500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물리 아키텍처 구성도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551176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Kubernetes 배포 토폴로지 및 리소스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828800" y="2715768"/>
            <a:ext cx="8686800" cy="0"/>
          </a:xfrm>
          <a:prstGeom prst="line">
            <a:avLst/>
          </a:prstGeom>
          <a:ln w="6350">
            <a:solidFill>
              <a:srgbClr val="4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371600" y="2761488"/>
            <a:ext cx="347472" cy="29260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743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네트워크 구성도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294436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Ingress 라우팅, 서비스 통신, 외부 연동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828800" y="3108960"/>
            <a:ext cx="8686800" cy="0"/>
          </a:xfrm>
          <a:prstGeom prst="line">
            <a:avLst/>
          </a:prstGeom>
          <a:ln w="6350">
            <a:solidFill>
              <a:srgbClr val="4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371600" y="3154680"/>
            <a:ext cx="347472" cy="29260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1363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데이터 아키텍처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3375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PostgreSQL 스키마, Redis 구조, ER 다이어그램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828800" y="3502152"/>
            <a:ext cx="8686800" cy="0"/>
          </a:xfrm>
          <a:prstGeom prst="line">
            <a:avLst/>
          </a:prstGeom>
          <a:ln w="6350">
            <a:solidFill>
              <a:srgbClr val="4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371600" y="3547872"/>
            <a:ext cx="347472" cy="29260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52958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AI Adapter 설계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37307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멀티 LLM 인터페이스, 캐릭터 시스템, 비용 제어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828800" y="3895344"/>
            <a:ext cx="8686800" cy="0"/>
          </a:xfrm>
          <a:prstGeom prst="line">
            <a:avLst/>
          </a:prstGeom>
          <a:ln w="6350">
            <a:solidFill>
              <a:srgbClr val="4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371600" y="3941064"/>
            <a:ext cx="347472" cy="29260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392277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게임 세션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412394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생명주기, 턴 관리, 장애 복구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828800" y="4288536"/>
            <a:ext cx="8686800" cy="0"/>
          </a:xfrm>
          <a:prstGeom prst="line">
            <a:avLst/>
          </a:prstGeom>
          <a:ln w="6350">
            <a:solidFill>
              <a:srgbClr val="4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371600" y="4334256"/>
            <a:ext cx="347472" cy="29260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4315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WBS / 프로젝트 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517136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Sprint-Phase 매핑, 의존관계, 마일스톤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828800" y="4681728"/>
            <a:ext cx="8686800" cy="0"/>
          </a:xfrm>
          <a:prstGeom prst="line">
            <a:avLst/>
          </a:prstGeom>
          <a:ln w="6350">
            <a:solidFill>
              <a:srgbClr val="4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371600" y="4727448"/>
            <a:ext cx="347472" cy="29260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4709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핵심 설계 원칙 &amp; 제약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491032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LLM 신뢰 금지, Stateless, 하드웨어 제약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828800" y="5074920"/>
            <a:ext cx="8686800" cy="0"/>
          </a:xfrm>
          <a:prstGeom prst="line">
            <a:avLst/>
          </a:prstGeom>
          <a:ln w="6350">
            <a:solidFill>
              <a:srgbClr val="4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371600" y="5120640"/>
            <a:ext cx="347472" cy="29260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0" y="51023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폴리글랏 백엔드 구성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53035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Go (game-server) + NestJS (ai-adapter) 결정 근거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828800" y="5468112"/>
            <a:ext cx="8686800" cy="0"/>
          </a:xfrm>
          <a:prstGeom prst="line">
            <a:avLst/>
          </a:prstGeom>
          <a:ln w="6350">
            <a:solidFill>
              <a:srgbClr val="4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1371600" y="5513832"/>
            <a:ext cx="347472" cy="29260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8800" y="549554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CI/CD 파이프라인 &amp; 컨테이너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0" y="569671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GitLab CI → ArgoCD → K8s, Docker 이미지 구성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828800" y="5861304"/>
            <a:ext cx="8686800" cy="0"/>
          </a:xfrm>
          <a:prstGeom prst="line">
            <a:avLst/>
          </a:prstGeom>
          <a:ln w="6350">
            <a:solidFill>
              <a:srgbClr val="4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1371600" y="5907024"/>
            <a:ext cx="347472" cy="292608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28800" y="588873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게임 복기 시스템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0" y="60899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4분할 뷰 기반 턴별 리플레이, 스냅샷 저장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828800" y="6254496"/>
            <a:ext cx="8686800" cy="0"/>
          </a:xfrm>
          <a:prstGeom prst="line">
            <a:avLst/>
          </a:prstGeom>
          <a:ln w="6350">
            <a:solidFill>
              <a:srgbClr val="4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777240"/>
            <a:ext cx="12191695" cy="36576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01.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96D6"/>
                </a:solidFill>
              </a:rPr>
              <a:t>RummiArena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D6"/>
                </a:solidFill>
              </a:rPr>
              <a:t>프로젝트 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D6"/>
                </a:solidFill>
              </a:rPr>
              <a:t>프로젝트명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371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RummiArena - 멀티 LLM 전략 실험 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19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D6"/>
                </a:solidFill>
              </a:rPr>
              <a:t>유형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7190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내부 AI 실험 프로젝트 (외부 서비스 수준 설계)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665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D6"/>
                </a:solidFill>
              </a:rPr>
              <a:t>기간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0665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2026-03-08 ~ 2026-08-15 (약 23주)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140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D6"/>
                </a:solidFill>
              </a:rPr>
              <a:t>Sprint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41401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Sprint 0~9 (2주 주기) + 운영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614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D6"/>
                </a:solidFill>
              </a:rPr>
              <a:t>인원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27614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1인 (PM/설계/개발/운영: 애벌레)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D6"/>
                </a:solidFill>
              </a:rPr>
              <a:t>저장소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github.com/k82022603/RummiArena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D6"/>
                </a:solidFill>
              </a:rPr>
              <a:t>핵심 목표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71600"/>
            <a:ext cx="2651760" cy="100584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D6"/>
                </a:solidFill>
              </a:rPr>
              <a:t>멀티 LLM 전략 비교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1783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OpenAI, Claude, DeepSeek, LLaMA
게임 전략 실험/비교 분석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1371600"/>
            <a:ext cx="2651760" cy="100584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88D"/>
                </a:solidFill>
              </a:rPr>
              <a:t>풀스택 플랫폼 엔지니어링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1783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K8s, GitOps, DevSecOps
전체 사이클 실습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514600"/>
            <a:ext cx="2651760" cy="100584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606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</a:rPr>
              <a:t>실시간 멀티플레이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926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WebSocket 기반
2~4인 Human+AI 대전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2514600"/>
            <a:ext cx="2651760" cy="100584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2606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B59B6"/>
                </a:solidFill>
              </a:rPr>
              <a:t>SaaS 수준 아키텍처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926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내부 실험이지만
외부 공개 가능한 설계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D6"/>
                </a:solidFill>
              </a:rPr>
              <a:t>성공 기준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114800"/>
            <a:ext cx="1280160" cy="82296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게임 완주율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434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88D"/>
                </a:solidFill>
              </a:rPr>
              <a:t>95%+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65960" y="4114800"/>
            <a:ext cx="1280160" cy="82296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AI 대전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4434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96D6"/>
                </a:solidFill>
              </a:rPr>
              <a:t>100판+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4114800"/>
            <a:ext cx="1280160" cy="82296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LLM 동시참가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4434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B35"/>
                </a:solidFill>
              </a:rPr>
              <a:t>3개 모델+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00600" y="4114800"/>
            <a:ext cx="1280160" cy="82296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CI 파이프라인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4434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B59B6"/>
                </a:solidFill>
              </a:rPr>
              <a:t>5분 이내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4114800"/>
            <a:ext cx="1280160" cy="82296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Pod 복구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4434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04F5F"/>
                </a:solidFill>
              </a:rPr>
              <a:t>30초 이내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35240" y="4114800"/>
            <a:ext cx="1280160" cy="82296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2668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코드 커버리지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80" y="4434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3C623"/>
                </a:solidFill>
              </a:rPr>
              <a:t>60%+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52560" y="4114800"/>
            <a:ext cx="1280160" cy="82296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보안 취약점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4434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88D"/>
                </a:solidFill>
              </a:rPr>
              <a:t>Critical 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469880" y="4114800"/>
            <a:ext cx="1280160" cy="82296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56132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CCCCC"/>
                </a:solidFill>
              </a:rPr>
              <a:t>AI 턴 응답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61320" y="4434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96D6"/>
                </a:solidFill>
              </a:rPr>
              <a:t>10초 이내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D6"/>
                </a:solidFill>
              </a:rPr>
              <a:t>범위 (Scope)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5440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In: 게임 엔진 / 연습 모드(Stage 1~6) / 멀티플레이 / OAuth / AI 4종 / 캐릭터 시스템 / ELO / 관리자 / K8s / GitOps / DevSecOps / 카카오톡 알림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4F5F"/>
                </a:solidFill>
              </a:rPr>
              <a:t>Out: 모바일 앱 / 결제 / 100+ 동시 사용자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777240"/>
            <a:ext cx="12191695" cy="36576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02. 목표 시스템 구성도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</a:rPr>
              <a:t>Target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96D6"/>
                </a:solidFill>
              </a:rPr>
              <a:t>RummiArena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C623"/>
                </a:solidFill>
              </a:rPr>
              <a:t>사용자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1280160" cy="64008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>Browser
(Human Player)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48840"/>
            <a:ext cx="1280160" cy="64008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>Admin
(관리자)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960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CCCC"/>
                </a:solidFill>
              </a:rPr>
              <a:t>Ingress (NGINX)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325880"/>
            <a:ext cx="1463040" cy="14630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NGINX
Ingress
Controller
TLS 종단
라우팅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0" y="1645920"/>
            <a:ext cx="548640" cy="0"/>
          </a:xfrm>
          <a:prstGeom prst="line">
            <a:avLst/>
          </a:prstGeom>
          <a:ln w="25400">
            <a:solidFill>
              <a:srgbClr val="F3C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737360" y="2194560"/>
            <a:ext cx="548640" cy="274320"/>
          </a:xfrm>
          <a:prstGeom prst="line">
            <a:avLst/>
          </a:prstGeom>
          <a:ln w="25400">
            <a:solidFill>
              <a:srgbClr val="F3C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06240" y="1097280"/>
            <a:ext cx="1463040" cy="59436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Frontend
(Next.js :3000)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874519"/>
            <a:ext cx="1463040" cy="59436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</a:rPr>
              <a:t>Admin Panel
(Next.js :3001)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749039" y="1371600"/>
            <a:ext cx="457201" cy="137160"/>
          </a:xfrm>
          <a:prstGeom prst="line">
            <a:avLst/>
          </a:prstGeom>
          <a:ln w="25400">
            <a:solidFill>
              <a:srgbClr val="009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749039" y="2148840"/>
            <a:ext cx="457201" cy="45720"/>
          </a:xfrm>
          <a:prstGeom prst="line">
            <a:avLst/>
          </a:prstGeom>
          <a:ln w="25400">
            <a:solidFill>
              <a:srgbClr val="009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7920" y="914400"/>
            <a:ext cx="2194560" cy="256032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960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88D"/>
                </a:solidFill>
              </a:rPr>
              <a:t>Game Server (:8080)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325880"/>
            <a:ext cx="1920240" cy="457200"/>
          </a:xfrm>
          <a:prstGeom prst="roundRect">
            <a:avLst/>
          </a:prstGeom>
          <a:solidFill>
            <a:srgbClr val="1E5F4E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>WebSocket + REST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920240"/>
            <a:ext cx="1920240" cy="457200"/>
          </a:xfrm>
          <a:prstGeom prst="roundRect">
            <a:avLst/>
          </a:prstGeom>
          <a:solidFill>
            <a:srgbClr val="1E5F4E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>Game Engine
(규칙 검증)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514600"/>
            <a:ext cx="1920240" cy="457200"/>
          </a:xfrm>
          <a:prstGeom prst="roundRect">
            <a:avLst/>
          </a:prstGeom>
          <a:solidFill>
            <a:srgbClr val="1E5F4E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>Session Manager
(세션/턴 관리)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0" y="1371600"/>
            <a:ext cx="548640" cy="0"/>
          </a:xfrm>
          <a:prstGeom prst="line">
            <a:avLst/>
          </a:prstGeom>
          <a:ln w="25400">
            <a:solidFill>
              <a:srgbClr val="009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0" y="10972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WS/REST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0" y="2148840"/>
            <a:ext cx="548640" cy="0"/>
          </a:xfrm>
          <a:prstGeom prst="line">
            <a:avLst/>
          </a:prstGeom>
          <a:ln w="25400">
            <a:solidFill>
              <a:srgbClr val="009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0" y="23317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REST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데이터 계층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114800"/>
            <a:ext cx="1371600" cy="731520"/>
          </a:xfrm>
          <a:prstGeom prst="roundRect">
            <a:avLst/>
          </a:prstGeom>
          <a:solidFill>
            <a:srgbClr val="8B2020"/>
          </a:solidFill>
          <a:ln w="1905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Redis 7
(게임 상태/캐시)
:6379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4114800"/>
            <a:ext cx="1463040" cy="731520"/>
          </a:xfrm>
          <a:prstGeom prst="roundRect">
            <a:avLst/>
          </a:prstGeom>
          <a:solidFill>
            <a:srgbClr val="1A3A6B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PostgreSQL 16
(영속 데이터)
:5432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6858000" y="3474720"/>
            <a:ext cx="457200" cy="640080"/>
          </a:xfrm>
          <a:prstGeom prst="line">
            <a:avLst/>
          </a:prstGeom>
          <a:ln w="25400">
            <a:solidFill>
              <a:srgbClr val="E04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498079" y="3474720"/>
            <a:ext cx="1005841" cy="640080"/>
          </a:xfrm>
          <a:prstGeom prst="line">
            <a:avLst/>
          </a:prstGeom>
          <a:ln w="25400">
            <a:solidFill>
              <a:srgbClr val="009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144000" y="914400"/>
            <a:ext cx="2560320" cy="256032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960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B59B6"/>
                </a:solidFill>
              </a:rPr>
              <a:t>AI Adapter (:8081)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1325880"/>
            <a:ext cx="1143000" cy="411480"/>
          </a:xfrm>
          <a:prstGeom prst="roundRect">
            <a:avLst/>
          </a:prstGeom>
          <a:solidFill>
            <a:srgbClr val="3D2A5C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PromptBuilder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69880" y="1325880"/>
            <a:ext cx="1143000" cy="411480"/>
          </a:xfrm>
          <a:prstGeom prst="roundRect">
            <a:avLst/>
          </a:prstGeom>
          <a:solidFill>
            <a:srgbClr val="3D2A5C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ResponseParser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1874520"/>
            <a:ext cx="1143000" cy="411480"/>
          </a:xfrm>
          <a:prstGeom prst="roundRect">
            <a:avLst/>
          </a:prstGeom>
          <a:solidFill>
            <a:srgbClr val="3D2A5C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RetryHandler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69880" y="1874520"/>
            <a:ext cx="1143000" cy="411480"/>
          </a:xfrm>
          <a:prstGeom prst="roundRect">
            <a:avLst/>
          </a:prstGeom>
          <a:solidFill>
            <a:srgbClr val="3D2A5C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MetricsCollector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35440" y="2423160"/>
            <a:ext cx="566928" cy="822960"/>
          </a:xfrm>
          <a:prstGeom prst="roundRect">
            <a:avLst/>
          </a:prstGeom>
          <a:solidFill>
            <a:srgbClr val="3D2A5C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</a:rPr>
              <a:t>OpenAI
Adapter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57232" y="2423160"/>
            <a:ext cx="566928" cy="822960"/>
          </a:xfrm>
          <a:prstGeom prst="roundRect">
            <a:avLst/>
          </a:prstGeom>
          <a:solidFill>
            <a:srgbClr val="3D2A5C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</a:rPr>
              <a:t>Claude
Adapter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79024" y="2423160"/>
            <a:ext cx="566928" cy="822960"/>
          </a:xfrm>
          <a:prstGeom prst="roundRect">
            <a:avLst/>
          </a:prstGeom>
          <a:solidFill>
            <a:srgbClr val="3D2A5C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</a:rPr>
              <a:t>DeepSeek
Adapter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100816" y="2423160"/>
            <a:ext cx="566928" cy="822960"/>
          </a:xfrm>
          <a:prstGeom prst="roundRect">
            <a:avLst/>
          </a:prstGeom>
          <a:solidFill>
            <a:srgbClr val="3D2A5C"/>
          </a:solidFill>
          <a:ln w="1905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FFFF"/>
                </a:solidFill>
              </a:rPr>
              <a:t>Ollama
Adapter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412480" y="1828800"/>
            <a:ext cx="731520" cy="0"/>
          </a:xfrm>
          <a:prstGeom prst="line">
            <a:avLst/>
          </a:prstGeom>
          <a:ln w="25400">
            <a:solidFill>
              <a:srgbClr val="9B5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412480" y="157276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gRPC/REST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외부 LLM APIs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4114800"/>
            <a:ext cx="822960" cy="5486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</a:rPr>
              <a:t>OpenAI 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58400" y="4114800"/>
            <a:ext cx="822960" cy="5486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</a:rPr>
              <a:t>Claude API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972800" y="4114800"/>
            <a:ext cx="822960" cy="5486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</a:rPr>
              <a:t>DeepSeek API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4846320"/>
            <a:ext cx="822960" cy="5486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</a:rPr>
              <a:t>Ollama
(Local)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10058400" y="3474720"/>
            <a:ext cx="365760" cy="640080"/>
          </a:xfrm>
          <a:prstGeom prst="line">
            <a:avLst/>
          </a:prstGeom>
          <a:ln w="19050">
            <a:solidFill>
              <a:srgbClr val="9B5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5720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외부 시스템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4114800"/>
            <a:ext cx="1280160" cy="5486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Google OAuth 2.0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846320"/>
            <a:ext cx="1280160" cy="5486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Kakao Message API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1737360" y="3474720"/>
            <a:ext cx="4480560" cy="914400"/>
          </a:xfrm>
          <a:prstGeom prst="line">
            <a:avLst/>
          </a:prstGeom>
          <a:ln w="12700">
            <a:solidFill>
              <a:srgbClr val="00B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737360" y="3474720"/>
            <a:ext cx="4480560" cy="1645920"/>
          </a:xfrm>
          <a:prstGeom prst="line">
            <a:avLst/>
          </a:prstGeom>
          <a:ln w="12700">
            <a:solidFill>
              <a:srgbClr val="F3C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743200" y="5943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9999"/>
                </a:solidFill>
              </a:rPr>
              <a:t>실선: 데이터 흐름  |  색상: 서비스 영역 구분  |  포트는 K8s Service 기준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777240"/>
            <a:ext cx="12191695" cy="36576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03. 논리 아키텍처 구성도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</a:rPr>
              <a:t>Logical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96D6"/>
                </a:solidFill>
              </a:rPr>
              <a:t>RummiArena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05840"/>
            <a:ext cx="11430000" cy="12344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6D6"/>
                </a:solidFill>
              </a:rPr>
              <a:t>Presentation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25880"/>
            <a:ext cx="256032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FFFFFF"/>
                </a:solidFill>
              </a:rPr>
              <a:t>Browser (Next.js)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게임 UI
dnd-kit 드래그&amp;드롭
WebSocket 클라이언트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256032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FFFFFF"/>
                </a:solidFill>
              </a:rPr>
              <a:t>Admin Panel (Next.js)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관리자 대시보드
게임 모니터링
AI 통계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423160"/>
            <a:ext cx="11430000" cy="12344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41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88D"/>
                </a:solidFill>
              </a:rPr>
              <a:t>Application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743200"/>
            <a:ext cx="260604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FFFFFF"/>
                </a:solidFill>
              </a:rPr>
              <a:t>Auth Module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Google OAuth
JWT 발급/검증
RBAC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743200"/>
            <a:ext cx="260604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FFFFFF"/>
                </a:solidFill>
              </a:rPr>
              <a:t>Game Module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Room 관리
턴 오케스트레이션
세션 생명주기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43200"/>
            <a:ext cx="260604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FFFFFF"/>
                </a:solidFill>
              </a:rPr>
              <a:t>Game Engine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타일 유효성 검증
규칙 판정
승리 조건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2743200"/>
            <a:ext cx="260604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FFFFFF"/>
                </a:solidFill>
              </a:rPr>
              <a:t>AI Module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Adapter 선택
프롬프트 빌드
응답 파싱/재시도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840480"/>
            <a:ext cx="11430000" cy="12344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587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</a:rPr>
              <a:t>Domain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260604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FFFFFF"/>
                </a:solidFill>
              </a:rPr>
              <a:t>Tile Domain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타일 인코딩
{Color}{Num}{Set}
R7a, JK1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4160520"/>
            <a:ext cx="260604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FFFFFF"/>
                </a:solidFill>
              </a:rPr>
              <a:t>Game Domain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게임 상태 Enum
WAITING→PLAYING
→FINISHED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160520"/>
            <a:ext cx="260604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FFFFFF"/>
                </a:solidFill>
              </a:rPr>
              <a:t>Player Domain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Human/AI 플레이어
ELO 레이팅
캐릭터 시스템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4160520"/>
            <a:ext cx="260604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Practice Domain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연습 모드
Stage 1~6
목표 판정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166360"/>
            <a:ext cx="11430000" cy="123444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1846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4F5F"/>
                </a:solidFill>
              </a:rPr>
              <a:t>Infrastructure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486400"/>
            <a:ext cx="260604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Redis Client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게임 상태 R/W
TTL 관리
Pub/Sub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5486400"/>
            <a:ext cx="260604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FFFFFF"/>
                </a:solidFill>
              </a:rPr>
              <a:t>PostgreSQL Client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유저/전적 CRUD
ELO 이력
이벤트 로그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5486400"/>
            <a:ext cx="260604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FFFFFF"/>
                </a:solidFill>
              </a:rPr>
              <a:t>LLM Client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OpenAI / Claude
DeepSeek / Ollama
HTTP/gRPC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5486400"/>
            <a:ext cx="260604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900" b="1">
                <a:solidFill>
                  <a:srgbClr val="FFFFFF"/>
                </a:solidFill>
              </a:rPr>
              <a:t>WebSocket Server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연결 관리
이벤트 브로드캐스트
재연결 처리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777240"/>
            <a:ext cx="12191695" cy="36576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04. 물리 아키텍처 구성도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</a:rPr>
              <a:t>Physical Architecture (Kubernetes)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96D6"/>
                </a:solidFill>
              </a:rPr>
              <a:t>RummiArena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960120"/>
            <a:ext cx="11612880" cy="5577840"/>
          </a:xfrm>
          <a:prstGeom prst="roundRect">
            <a:avLst/>
          </a:prstGeom>
          <a:solidFill>
            <a:srgbClr val="272744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</a:rPr>
              <a:t>LG Gram 15Z90R  |  Windows 11 + WSL2  |  RAM 16GB  |  i7-1360P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020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44466"/>
                </a:solidFill>
              </a:rPr>
              <a:t>WSL2 (Ubuntu)  |  Memory: 10~14GB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37360"/>
            <a:ext cx="7772400" cy="4526280"/>
          </a:xfrm>
          <a:prstGeom prst="roundRect">
            <a:avLst/>
          </a:prstGeom>
          <a:solidFill>
            <a:srgbClr val="1A1A30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D6"/>
                </a:solidFill>
              </a:rPr>
              <a:t>Docker Desktop Kubernetes (docker-desktop)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103120"/>
            <a:ext cx="7406640" cy="4023360"/>
          </a:xfrm>
          <a:prstGeom prst="roundRect">
            <a:avLst/>
          </a:prstGeom>
          <a:solidFill>
            <a:srgbClr val="18182E"/>
          </a:solidFill>
          <a:ln w="1270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148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8D"/>
                </a:solidFill>
              </a:rPr>
              <a:t>Namespace: rummikub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2514600"/>
            <a:ext cx="1645920" cy="15544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603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7432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96D6"/>
                </a:solidFill>
              </a:rP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0175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Next.js
:3000
replicas: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7947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99999"/>
                </a:solidFill>
              </a:rPr>
              <a:t>128Mi/256Mi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2514600"/>
            <a:ext cx="1645920" cy="15544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25603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27432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88D"/>
                </a:solidFill>
              </a:rPr>
              <a:t>game-server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0175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NestJS/Go
:8080
replicas: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7947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99999"/>
                </a:solidFill>
              </a:rPr>
              <a:t>256Mi/512Mi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2514600"/>
            <a:ext cx="1645920" cy="15544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25603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27432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B59B6"/>
                </a:solidFill>
              </a:rPr>
              <a:t>ai-adapter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30175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NestJS/Go
:8081
replicas: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37947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99999"/>
                </a:solidFill>
              </a:rPr>
              <a:t>256Mi/512Mi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2514600"/>
            <a:ext cx="1645920" cy="15544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25603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Deployment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7432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96D6"/>
                </a:solidFill>
              </a:rPr>
              <a:t>admin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0175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Next.js
:3001
replicas: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79476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99999"/>
                </a:solidFill>
              </a:rPr>
              <a:t>128Mi/256Mi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4251960"/>
            <a:ext cx="1645920" cy="10972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2976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StatefulSet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44805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04F5F"/>
                </a:solidFill>
              </a:rPr>
              <a:t>Redis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754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StatefulSet
:6379
100Mi/200Mi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34640" y="4251960"/>
            <a:ext cx="1645920" cy="1097280"/>
          </a:xfrm>
          <a:prstGeom prst="roundRect">
            <a:avLst/>
          </a:prstGeom>
          <a:solidFill>
            <a:srgbClr val="22223E"/>
          </a:solidFill>
          <a:ln w="19050">
            <a:solidFill>
              <a:srgbClr val="33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80360" y="42976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StatefulSet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44805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66CC"/>
                </a:solidFill>
              </a:rPr>
              <a:t>PostgreSQL 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360" y="4754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StatefulSet + PVC
:5432
256Mi/512Mi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63440" y="4251960"/>
            <a:ext cx="1645920" cy="1097280"/>
          </a:xfrm>
          <a:prstGeom prst="roundRect">
            <a:avLst/>
          </a:prstGeom>
          <a:solidFill>
            <a:srgbClr val="22223E"/>
          </a:solidFill>
          <a:ln w="1270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09160" y="42976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K8s 밖 실행 (선택)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44805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3C623"/>
                </a:solidFill>
              </a:rPr>
              <a:t>Ollama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4754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LLaMA 1B~3B
:11434
~3GB RAM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0" y="1737360"/>
            <a:ext cx="3017520" cy="452628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696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</a:rPr>
              <a:t>교대 실행 전략 (리소스 제약)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69680" y="2194560"/>
            <a:ext cx="265176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06840" y="22402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88D"/>
                </a:solidFill>
              </a:rPr>
              <a:t>개발 모드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24688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앱 + Redis + PG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26974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RAM ~6GB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69680" y="3154680"/>
            <a:ext cx="265176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6840" y="3200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D6"/>
                </a:solidFill>
              </a:rPr>
              <a:t>CI/CD 모드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6840" y="3429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ArgoCD + Runner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3657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RAM ~6GB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69680" y="4114800"/>
            <a:ext cx="265176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06840" y="41605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B59B6"/>
                </a:solidFill>
              </a:rPr>
              <a:t>품질 모드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06840" y="43891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SonarQube (단독)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06840" y="46177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RAM ~4GB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869680" y="5074920"/>
            <a:ext cx="2651760" cy="8229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06840" y="5120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C623"/>
                </a:solidFill>
              </a:rPr>
              <a:t>AI 실험 모드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06840" y="53492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Ollama + 1~3B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06840" y="5577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RAM ~5GB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69680" y="5989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4F5F"/>
                </a:solidFill>
              </a:rPr>
              <a:t>* 모든 서비스 동시 실행 불가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777240"/>
            <a:ext cx="12191695" cy="36576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05. 네트워크 구성도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</a:rPr>
              <a:t>Network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96D6"/>
                </a:solidFill>
              </a:rPr>
              <a:t>RummiArena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C623"/>
                </a:solidFill>
              </a:rPr>
              <a:t>External (Internet)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463040" cy="64008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371600"/>
            <a:ext cx="1463040" cy="64008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Google OAuth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371600"/>
            <a:ext cx="1463040" cy="64008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Kakao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371600"/>
            <a:ext cx="1463040" cy="64008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LLM APIs
(OpenAI, Claude
DeepSeek)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377440"/>
            <a:ext cx="11430000" cy="1097280"/>
          </a:xfrm>
          <a:prstGeom prst="roundRect">
            <a:avLst/>
          </a:prstGeom>
          <a:solidFill>
            <a:srgbClr val="27274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CCCC"/>
                </a:solidFill>
              </a:rPr>
              <a:t>NGINX Ingress Controller  (TLS Termination, self-signed cert)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43200"/>
            <a:ext cx="914400" cy="5029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96D6"/>
                </a:solidFill>
              </a:rPr>
              <a:t>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834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-&gt; frontend:3000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2743200"/>
            <a:ext cx="914400" cy="5029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B88D"/>
                </a:solidFill>
              </a:rPr>
              <a:t>/api/*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834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-&gt; game-server:8080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743200"/>
            <a:ext cx="914400" cy="5029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B88D"/>
                </a:solidFill>
              </a:rPr>
              <a:t>/ws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834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-&gt; game-server:8080
(WebSocket Upgrade)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2743200"/>
            <a:ext cx="914400" cy="5029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96D6"/>
                </a:solidFill>
              </a:rPr>
              <a:t>/admin/*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2834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-&gt; admin:3001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88720" y="2011680"/>
            <a:ext cx="0" cy="365760"/>
          </a:xfrm>
          <a:prstGeom prst="line">
            <a:avLst/>
          </a:prstGeom>
          <a:ln w="25400">
            <a:solidFill>
              <a:srgbClr val="F3C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21031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99999"/>
                </a:solidFill>
              </a:rPr>
              <a:t>HTTPS / WSS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3749039"/>
            <a:ext cx="11430000" cy="1371600"/>
          </a:xfrm>
          <a:prstGeom prst="roundRect">
            <a:avLst/>
          </a:prstGeom>
          <a:solidFill>
            <a:srgbClr val="18182E"/>
          </a:solidFill>
          <a:ln w="1270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88D"/>
                </a:solidFill>
              </a:rPr>
              <a:t>ClusterIP Services  (K8s Internal Network, Namespace: rummikub)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114800"/>
            <a:ext cx="1645920" cy="82296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frontend
ClusterIP
:3000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40" y="4114800"/>
            <a:ext cx="1645920" cy="82296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game-server
ClusterIP
:8080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114800"/>
            <a:ext cx="1645920" cy="82296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ai-adapter
ClusterIP
:8081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114800"/>
            <a:ext cx="1645920" cy="82296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admin
ClusterIP
:3001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114800"/>
            <a:ext cx="1645920" cy="82296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redis
ClusterIP
:6379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4114800"/>
            <a:ext cx="1645920" cy="82296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33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postgres
ClusterIP
:5432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서비스 간 통신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623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game-server -&gt; redis:6379 (TCP, 게임 상태 R/W)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897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game-server -&gt; postgres:5432 (TCP, 유저/전적/로그)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172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game-server -&gt; ai-adapter:8081 (HTTP/gRPC, AI 행동 요청)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623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ai-adapter -&gt; LLM APIs (HTTPS, 외부 모델 호출)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5897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ai-adapter -&gt; ollama:11434 (HTTP, 로컬 모델 - K8s 밖)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3492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B59B6"/>
                </a:solidFill>
              </a:rPr>
              <a:t>Phase 5 (Sprint 9): Istio mTLS, VirtualService, DestinationRule 추가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777240"/>
            <a:ext cx="12191695" cy="36576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06. 데이터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</a:rPr>
              <a:t>Data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96D6"/>
                </a:solidFill>
              </a:rPr>
              <a:t>RummiArena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D6"/>
                </a:solidFill>
              </a:rPr>
              <a:t>PostgreSQL 16 (영속 데이터)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743200" cy="10972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6D6"/>
                </a:solidFill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id, email, display_name
elo_rating, role, is_blocked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743200" cy="10972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4173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88D"/>
                </a:solidFill>
              </a:rPr>
              <a:t>games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91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id, room_code, status
game_mode, settings(JSONB)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06040"/>
            <a:ext cx="2743200" cy="10972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517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35"/>
                </a:solidFill>
              </a:rPr>
              <a:t>game_players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26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player_type, seat_order
ai_persona, ai_difficulty
ai_psychology_level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2606040"/>
            <a:ext cx="2743200" cy="10972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65176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B59B6"/>
                </a:solidFill>
              </a:rPr>
              <a:t>ai_call_logs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926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player_type, model_name
ai_persona, latency_ms
prompt/completion_tokens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80"/>
            <a:ext cx="2743200" cy="10972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86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4F5F"/>
                </a:solidFill>
              </a:rPr>
              <a:t>game_events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60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turn_number, event_type
event_data(JSONB)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3840480"/>
            <a:ext cx="2743200" cy="10972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886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C623"/>
                </a:solidFill>
              </a:rPr>
              <a:t>elo_history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160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rating_before/after
rating_delta, k_factor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74920"/>
            <a:ext cx="2743200" cy="10972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206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88D"/>
                </a:solidFill>
              </a:rPr>
              <a:t>practice_sessions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949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stage(1~6), status
objectives, result(JSONB)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669280"/>
            <a:ext cx="5669280" cy="41148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687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99999"/>
                </a:solidFill>
              </a:rPr>
              <a:t>system_config: turn_timeout_sec=60, ai_max_retries=3, ai_timeout_ms=10000, max_rooms=10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F5F"/>
                </a:solidFill>
              </a:rPr>
              <a:t>Redis 7 (실시간 상태)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1371600"/>
            <a:ext cx="5029200" cy="5943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13990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04F5F"/>
                </a:solidFill>
              </a:rPr>
              <a:t>game:{id}:state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13990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Hash: status, currentTurn,
currentPlayer, drawPileCount
TTL: 7200s (매 턴 갱신)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2057400"/>
            <a:ext cx="5029200" cy="5943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20848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B35"/>
                </a:solidFill>
              </a:rPr>
              <a:t>game:{id}:player:{seat}:tiles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20848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List: ["R1a","B5a","JK1",...]
TTL: 7200s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2743200"/>
            <a:ext cx="5029200" cy="5943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2770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96D6"/>
                </a:solidFill>
              </a:rPr>
              <a:t>game:{id}:drawpile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27706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List: 셔플된 타일 목록
TTL: 7200s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3429000"/>
            <a:ext cx="5029200" cy="5943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34564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B59B6"/>
                </a:solidFill>
              </a:rPr>
              <a:t>game:{id}:stalemate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34564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Hash: consecutiveDrawCount,
lastPlaceTurn
TTL: 7200s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0" y="4114800"/>
            <a:ext cx="5029200" cy="5943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41422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3C623"/>
                </a:solidFill>
              </a:rPr>
              <a:t>game:{id}:timer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41422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String: 만료 Unix timestamp
TTL: 30~120s (턴 설정)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0" y="4800600"/>
            <a:ext cx="5029200" cy="5943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20840" y="48280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88D"/>
                </a:solidFill>
              </a:rPr>
              <a:t>session:{id}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48280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Hash: userId, gameId
TTL: 1800s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0" y="5486400"/>
            <a:ext cx="5029200" cy="59436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20840" y="55138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04F5F"/>
                </a:solidFill>
              </a:rPr>
              <a:t>quota:daily:{date}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551383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Hash: totalCalls, totalCost
모델별 호출수/비용
TTL: 172800s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0" y="6263640"/>
            <a:ext cx="5029200" cy="320040"/>
          </a:xfrm>
          <a:prstGeom prst="roundRect">
            <a:avLst/>
          </a:prstGeom>
          <a:solidFill>
            <a:srgbClr val="272744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20840" y="62819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타일 인코딩: {Color}{Number}{Set}  |  R7a=빨강7(a), B13b=파랑13(b), JK1=조커1  |  총 106장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777240"/>
            <a:ext cx="12191695" cy="36576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07. AI Adapter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</a:rPr>
              <a:t>AI Adapter Architecture &amp; Character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96D6"/>
                </a:solidFill>
              </a:rPr>
              <a:t>RummiArena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B59B6"/>
                </a:solidFill>
              </a:rPr>
              <a:t>요청 흐름 (LLM 신뢰 금지)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463040" cy="6400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Game Server
턴 요청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371600"/>
            <a:ext cx="1463040" cy="6400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PromptBuilder
게임상태→프롬프트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371600"/>
            <a:ext cx="1463040" cy="6400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LLM API
모델 호출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371600"/>
            <a:ext cx="1463040" cy="6400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ResponseParser
JSON 파싱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371600"/>
            <a:ext cx="1463040" cy="6400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Game Engine
유효성 검증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20240" y="1691640"/>
            <a:ext cx="36576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749040" y="1691640"/>
            <a:ext cx="36576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77840" y="1691640"/>
            <a:ext cx="36576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06640" y="1691640"/>
            <a:ext cx="365760" cy="0"/>
          </a:xfrm>
          <a:prstGeom prst="line">
            <a:avLst/>
          </a:prstGeom>
          <a:ln w="1905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0" y="21031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4F5F"/>
                </a:solidFill>
              </a:rPr>
              <a:t>무효 -&gt; 재요청(max 3회) -&gt; 전부 실패 -&gt; 강제 드로우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371600"/>
            <a:ext cx="1371600" cy="640080"/>
          </a:xfrm>
          <a:prstGeom prst="roundRect">
            <a:avLst/>
          </a:prstGeom>
          <a:solidFill>
            <a:srgbClr val="5A1A1A"/>
          </a:solidFill>
          <a:ln w="1905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실패 시
강제 드로우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35440" y="1691640"/>
            <a:ext cx="365760" cy="0"/>
          </a:xfrm>
          <a:prstGeom prst="line">
            <a:avLst/>
          </a:prstGeom>
          <a:ln w="19050">
            <a:solidFill>
              <a:srgbClr val="E04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C623"/>
                </a:solidFill>
              </a:rPr>
              <a:t>AI 캐릭터 시스템 (6 x 3 x 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834640"/>
            <a:ext cx="1737360" cy="118872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88D"/>
                </a:solidFill>
              </a:rPr>
              <a:t>Rookie
(루키)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375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순진, 실수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657600"/>
            <a:ext cx="822960" cy="228600"/>
          </a:xfrm>
          <a:prstGeom prst="roundRect">
            <a:avLst/>
          </a:prstGeom>
          <a:solidFill>
            <a:srgbClr val="00B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하수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77440" y="2834640"/>
            <a:ext cx="1737360" cy="118872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2316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96D6"/>
                </a:solidFill>
              </a:rPr>
              <a:t>Calculator
(칼큘레이터)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33375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논리적, 차분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34640" y="3657600"/>
            <a:ext cx="822960" cy="2286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중수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2834640"/>
            <a:ext cx="1737360" cy="118872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04F5F"/>
                </a:solidFill>
              </a:rPr>
              <a:t>Shark
(샤크)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33375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공격적, 압박형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3657600"/>
            <a:ext cx="822960" cy="228600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고수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834640"/>
            <a:ext cx="1737360" cy="118872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6B35"/>
                </a:solidFill>
              </a:rPr>
              <a:t>Fox
(폭스)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3375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교활, 전략형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3657600"/>
            <a:ext cx="822960" cy="2286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고수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2834640"/>
            <a:ext cx="1737360" cy="118872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33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366CC"/>
                </a:solidFill>
              </a:rPr>
              <a:t>Wall
(월)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33375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수비적, 끈질김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5360" y="3657600"/>
            <a:ext cx="822960" cy="228600"/>
          </a:xfrm>
          <a:prstGeom prst="round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중수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58400" y="2834640"/>
            <a:ext cx="1737360" cy="118872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0412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B59B6"/>
                </a:solidFill>
              </a:rPr>
              <a:t>Wildcard
(와일드카드)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20" y="33375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예측불가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15600" y="3657600"/>
            <a:ext cx="822960" cy="2286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</a:rPr>
              <a:t>중수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난이도별 정보 제한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572000"/>
            <a:ext cx="3566160" cy="141732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617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88D"/>
                </a:solidFill>
              </a:rPr>
              <a:t>하수 (Beginner)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8920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경량 모델
gpt-4o-mini, llama3.2:1b
내 타일+테이블만
재배치 불가, 심리전 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97680" y="4572000"/>
            <a:ext cx="3566160" cy="141732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0" y="4617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6D6"/>
                </a:solidFill>
              </a:rPr>
              <a:t>중수 (Intermediate)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48920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중급 모델
gpt-4o-mini, deepseek
+ 상대 남은 수
기본 재배치, 심리전 1~2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38160" y="4572000"/>
            <a:ext cx="3566160" cy="141732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0" y="4617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4F5F"/>
                </a:solidFill>
              </a:rPr>
              <a:t>고수 (Expert)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48920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최상위 모델
gpt-4o, claude-sonnet
+ 히스토리+미출현 타일
적극 재배치, 심리전 2~3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</a:rPr>
              <a:t>비용 제어: 사용자당 500회/일, 게임당 200회, 일일 $10 한도  |  프롬프트 토큰 예산: 2,000 이내  |  히스토리: 최근 N턴 제한 (난이도별 차등)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777240"/>
            <a:ext cx="12191695" cy="36576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08. 게임 세션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</a:rPr>
              <a:t>Game Session Lifecycle &amp; Turn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96D6"/>
                </a:solidFill>
              </a:rPr>
              <a:t>RummiArena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88D"/>
                </a:solidFill>
              </a:rPr>
              <a:t>세션 생명주기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1828800" cy="73152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>WAITING
Room 생성, 플레이어 대기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371600"/>
            <a:ext cx="1828800" cy="73152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>PLAYING
게임 진행, 턴 순환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1828800" cy="59436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>FINISHED
정상 종료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20240"/>
            <a:ext cx="1828800" cy="59436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</a:rPr>
              <a:t>CANCELLED
비정상 종료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1737360"/>
            <a:ext cx="91440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43200" y="14630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99999"/>
                </a:solidFill>
              </a:rPr>
              <a:t>호스트 시작
(2명+)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0" y="1508760"/>
            <a:ext cx="91440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0" y="12801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99999"/>
                </a:solidFill>
              </a:rPr>
              <a:t>승자 확정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0" y="1920240"/>
            <a:ext cx="914400" cy="228600"/>
          </a:xfrm>
          <a:prstGeom prst="line">
            <a:avLst/>
          </a:prstGeom>
          <a:ln w="25400">
            <a:solidFill>
              <a:srgbClr val="E04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86800" y="1188720"/>
            <a:ext cx="3017520" cy="1371600"/>
          </a:xfrm>
          <a:prstGeom prst="roundRect">
            <a:avLst/>
          </a:prstGeom>
          <a:solidFill>
            <a:srgbClr val="272744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234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D6"/>
                </a:solidFill>
              </a:rPr>
              <a:t>종료 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5087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1. 승자 판정
2. 점수 계산 (조커=30점)
3. ELO 레이팅 업데이트
4. PostgreSQL 저장
5. game:ended 이벤트
6. Redis TTL 600s로 단축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턴 관리 흐름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00400"/>
            <a:ext cx="5303520" cy="16459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3C623"/>
                </a:solidFill>
              </a:rPr>
              <a:t>Human 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11880"/>
            <a:ext cx="1097280" cy="50292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</a:rPr>
              <a:t>turn:start
이벤트 전송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37360" y="3840480"/>
            <a:ext cx="18288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920240" y="3611880"/>
            <a:ext cx="1097280" cy="50292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</a:rPr>
              <a:t>타이머 시작
30~120초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17520" y="3840480"/>
            <a:ext cx="18288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200400" y="3611880"/>
            <a:ext cx="1097280" cy="50292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</a:rPr>
              <a:t>드래그&amp;드롭
타일 배치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97680" y="3840480"/>
            <a:ext cx="18288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480559" y="3611880"/>
            <a:ext cx="1097280" cy="50292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</a:rPr>
              <a:t>turn:confirm
검증 요청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297680"/>
            <a:ext cx="2286000" cy="411480"/>
          </a:xfrm>
          <a:prstGeom prst="roundRect">
            <a:avLst/>
          </a:prstGeom>
          <a:solidFill>
            <a:srgbClr val="3A1A1A"/>
          </a:solidFill>
          <a:ln w="1905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타임아웃 -&gt; 자동 드로우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4297680"/>
            <a:ext cx="2286000" cy="411480"/>
          </a:xfrm>
          <a:prstGeom prst="roundRect">
            <a:avLst/>
          </a:prstGeom>
          <a:solidFill>
            <a:srgbClr val="1A3A1A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유효 -&gt; 적용 -&gt; 다음 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200400"/>
            <a:ext cx="5303520" cy="16459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B59B6"/>
                </a:solidFill>
              </a:rPr>
              <a:t>AI 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611880"/>
            <a:ext cx="1097280" cy="50292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</a:rPr>
              <a:t>ai:thinking
사고 중 표시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98080" y="3840480"/>
            <a:ext cx="18288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680960" y="3611880"/>
            <a:ext cx="1097280" cy="50292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</a:rPr>
              <a:t>AI Adapter
LLM 호출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778240" y="3840480"/>
            <a:ext cx="18288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961120" y="3611880"/>
            <a:ext cx="1097280" cy="50292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</a:rPr>
              <a:t>Engine 검증
유효성 확인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058400" y="3840480"/>
            <a:ext cx="18288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241279" y="3611880"/>
            <a:ext cx="1097280" cy="50292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FFFFF"/>
                </a:solidFill>
              </a:rPr>
              <a:t>turn:action
결과 브로드캐스트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297680"/>
            <a:ext cx="2286000" cy="411480"/>
          </a:xfrm>
          <a:prstGeom prst="roundRect">
            <a:avLst/>
          </a:prstGeom>
          <a:solidFill>
            <a:srgbClr val="3A1A1A"/>
          </a:solidFill>
          <a:ln w="1905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3회 실패 -&gt; 강제 드로우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4297680"/>
            <a:ext cx="2286000" cy="411480"/>
          </a:xfrm>
          <a:prstGeom prst="roundRect">
            <a:avLst/>
          </a:prstGeom>
          <a:solidFill>
            <a:srgbClr val="1A3A1A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</a:rPr>
              <a:t>유효 -&gt; 적용 -&gt; 다음 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F5F"/>
                </a:solidFill>
              </a:rPr>
              <a:t>연결 끊김 / 장애 복구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440680"/>
            <a:ext cx="2743200" cy="10972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486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C623"/>
                </a:solidFill>
              </a:rPr>
              <a:t>Human 끊김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7607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30초 재연결 유예
-&gt; 자동 드로우
-&gt; 3턴 부재시 제외
-&gt; 2명 미만시 종료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83280" y="5440680"/>
            <a:ext cx="2743200" cy="10972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0" y="5486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B59B6"/>
                </a:solidFill>
              </a:rPr>
              <a:t>AI 장애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4720" y="57607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재시도 max 3회
-&gt; 강제 드로우
-&gt; 5회 연속시
   AI 비활성화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5440680"/>
            <a:ext cx="2743200" cy="10972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5486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88D"/>
                </a:solidFill>
              </a:rPr>
              <a:t>서버 재시작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7607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Redis 스캔
-&gt; 타이머 복구
-&gt; 30초 재연결 대기
-&gt; 복구 or 종료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35440" y="5440680"/>
            <a:ext cx="2743200" cy="109728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26880" y="5486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6D6"/>
                </a:solidFill>
              </a:rPr>
              <a:t>ELO 규칙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57607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정상 종료만 적용
CANCELLED 미적용
연습 모드 미적용
K=32/40/24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777240"/>
            <a:ext cx="12191695" cy="36576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09. WBS / 프로젝트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</a:rPr>
              <a:t>Work Breakdown Structure &amp;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96D6"/>
                </a:solidFill>
              </a:rPr>
              <a:t>RummiArena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D6"/>
                </a:solidFill>
              </a:rPr>
              <a:t>프로젝트 타임라인 (23주)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405834" cy="137160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8000" y="1389888"/>
            <a:ext cx="132963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99999"/>
                </a:solidFill>
              </a:rPr>
              <a:t>S0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1627632"/>
            <a:ext cx="132963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CCCC"/>
                </a:solidFill>
              </a:rPr>
              <a:t>기획
환경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194560"/>
            <a:ext cx="132963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99999"/>
                </a:solidFill>
              </a:rPr>
              <a:t>03/08
~03/28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88434" y="1371600"/>
            <a:ext cx="928756" cy="137160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39234" y="1389888"/>
            <a:ext cx="8525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B88D"/>
                </a:solidFill>
              </a:rPr>
              <a:t>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9234" y="1627632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CCCC"/>
                </a:solidFill>
              </a:rPr>
              <a:t>게임
엔진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9234" y="2194560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99999"/>
                </a:solidFill>
              </a:rPr>
              <a:t>03/29
~04/11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42591" y="1371600"/>
            <a:ext cx="928756" cy="137160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3391" y="1389888"/>
            <a:ext cx="8525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B88D"/>
                </a:solidFill>
              </a:rPr>
              <a:t>S2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3391" y="1627632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CCCC"/>
                </a:solidFill>
              </a:rPr>
              <a:t>백엔드
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3391" y="2194560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99999"/>
                </a:solidFill>
              </a:rPr>
              <a:t>04/12
~04/25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6747" y="1371600"/>
            <a:ext cx="928756" cy="137160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7547" y="1389888"/>
            <a:ext cx="8525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B88D"/>
                </a:solidFill>
              </a:rPr>
              <a:t>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7547" y="1627632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CCCC"/>
                </a:solidFill>
              </a:rPr>
              <a:t>프론트
연습모드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7547" y="2194560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99999"/>
                </a:solidFill>
              </a:rPr>
              <a:t>04/26
~05/09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0904" y="1371600"/>
            <a:ext cx="928756" cy="137160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1704" y="1389888"/>
            <a:ext cx="8525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B59B6"/>
                </a:solidFill>
              </a:rPr>
              <a:t>S4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1704" y="1627632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CCCC"/>
                </a:solidFill>
              </a:rPr>
              <a:t>AI
Adapter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1704" y="2194560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99999"/>
                </a:solidFill>
              </a:rPr>
              <a:t>05/10
~05/23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05060" y="1371600"/>
            <a:ext cx="928756" cy="137160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55860" y="1389888"/>
            <a:ext cx="8525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B59B6"/>
                </a:solidFill>
              </a:rPr>
              <a:t>S5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55860" y="1627632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CCCC"/>
                </a:solidFill>
              </a:rPr>
              <a:t>멀티
플레이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55860" y="2194560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99999"/>
                </a:solidFill>
              </a:rPr>
              <a:t>05/24
~06/06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59217" y="1371600"/>
            <a:ext cx="928756" cy="137160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10017" y="1389888"/>
            <a:ext cx="8525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6B35"/>
                </a:solidFill>
              </a:rPr>
              <a:t>S6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10017" y="1627632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CCCC"/>
                </a:solidFill>
              </a:rPr>
              <a:t>관리자
랭킹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0017" y="2194560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99999"/>
                </a:solidFill>
              </a:rPr>
              <a:t>06/07
~06/20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13373" y="1371600"/>
            <a:ext cx="928756" cy="137160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64173" y="1389888"/>
            <a:ext cx="8525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04F5F"/>
                </a:solidFill>
              </a:rPr>
              <a:t>S7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64173" y="1627632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CCCC"/>
                </a:solidFill>
              </a:rPr>
              <a:t>Observ
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64173" y="2194560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99999"/>
                </a:solidFill>
              </a:rPr>
              <a:t>06/21
~07/04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67530" y="1371600"/>
            <a:ext cx="928756" cy="137160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18330" y="1389888"/>
            <a:ext cx="8525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04F5F"/>
                </a:solidFill>
              </a:rPr>
              <a:t>S8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8330" y="1627632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CCCC"/>
                </a:solidFill>
              </a:rPr>
              <a:t>보안
고도화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18330" y="2194560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99999"/>
                </a:solidFill>
              </a:rPr>
              <a:t>07/05
~07/18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21686" y="1371600"/>
            <a:ext cx="928756" cy="137160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72486" y="1389888"/>
            <a:ext cx="8525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04F5F"/>
                </a:solidFill>
              </a:rPr>
              <a:t>S9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72486" y="1627632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CCCC"/>
                </a:solidFill>
              </a:rPr>
              <a:t>Service
Mesh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72486" y="2194560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99999"/>
                </a:solidFill>
              </a:rPr>
              <a:t>07/19
~08/01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75843" y="1371600"/>
            <a:ext cx="928756" cy="1371600"/>
          </a:xfrm>
          <a:prstGeom prst="roundRect">
            <a:avLst/>
          </a:prstGeom>
          <a:solidFill>
            <a:srgbClr val="1E1E36"/>
          </a:solidFill>
          <a:ln w="1905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26643" y="1389888"/>
            <a:ext cx="8525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C623"/>
                </a:solidFill>
              </a:rPr>
              <a:t>OP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26643" y="1627632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CCCCCC"/>
                </a:solidFill>
              </a:rPr>
              <a:t>운영
실험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26643" y="2194560"/>
            <a:ext cx="852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999999"/>
                </a:solidFill>
              </a:rPr>
              <a:t>08/02
~08/15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2788920"/>
            <a:ext cx="143123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99999"/>
                </a:solidFill>
              </a:rPr>
              <a:t>Phase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88434" y="2788920"/>
            <a:ext cx="286246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B88D"/>
                </a:solidFill>
              </a:rPr>
              <a:t>Phase 2 (MVP)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0904" y="2788920"/>
            <a:ext cx="1908313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B59B6"/>
                </a:solidFill>
              </a:rPr>
              <a:t>Phase 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59217" y="2788920"/>
            <a:ext cx="9541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6B35"/>
                </a:solidFill>
              </a:rPr>
              <a:t>Phase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13373" y="2788920"/>
            <a:ext cx="286246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04F5F"/>
                </a:solidFill>
              </a:rPr>
              <a:t>Phase 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75843" y="2788920"/>
            <a:ext cx="9541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C623"/>
                </a:solidFill>
              </a:rPr>
              <a:t>Phase 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88D"/>
                </a:solidFill>
              </a:rPr>
              <a:t>Sprint별 주요 산출물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3566160"/>
            <a:ext cx="1828800" cy="164592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36118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Sprint 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388620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기획 문서 5종
설계 문서 5종
K8s/ArgoCD/GitLab
Backend 기술 결정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377440" y="3566160"/>
            <a:ext cx="1828800" cy="164592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68880" y="36118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Sprint 1~3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68880" y="388620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게임 엔진 (검증/턴)
REST+WebSocket API
Redis/PG 연동
Next.js UI, 연습 모드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97680" y="3566160"/>
            <a:ext cx="1828800" cy="164592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0" y="36118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Sprint 4~5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0" y="388620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AI Adapter 4종
캐릭터 시스템
프롬프트 설계
Human+AI 통합 대전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17920" y="3566160"/>
            <a:ext cx="1828800" cy="164592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60" y="36118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Sprint 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388620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관리자 대시보드
ELO 랭킹 시스템
카카오톡 알림
AI 통계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138160" y="3566160"/>
            <a:ext cx="1828800" cy="164592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600" y="36118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Sprint 7~9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0" y="388620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Prometheus/Grafana
SonarQube/Trivy/ZAP
Istio/Kiali/Jaeger
k6 부하 테스트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058400" y="3566160"/>
            <a:ext cx="1828800" cy="164592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149840" y="36118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운영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49840" y="388620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AI vs AI 토너먼트
모델별 전략 분석
프롬프트 최적화
운영 가이드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Sprint 의존 관계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S0 -&gt; S1 (Backend 결정)  |  S1 -&gt; S2 (엔진 로직)  |  S1,S2 -&gt; S3 (API+엔진)  |  S2 -&gt; S4 (API 연동)  |  S3,S4 -&gt; S5 (통합)  |  S5 -&gt; S6 -&gt; S7 -&gt; S8 -&gt; S9 -&gt; 운영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6035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C623"/>
                </a:solidFill>
              </a:rPr>
              <a:t>핵심 마일스톤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63093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3C623"/>
                </a:solidFill>
              </a:rPr>
              <a:t>2026-03-28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71600" y="6309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기획 완료, 인프라 구축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34640" y="63093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3C623"/>
                </a:solidFill>
              </a:rPr>
              <a:t>2026-05-09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49040" y="6309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MVP (게임 엔진+API+UI)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12080" y="63093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3C623"/>
                </a:solidFill>
              </a:rPr>
              <a:t>2026-06-06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26480" y="6309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AI 대전 완성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89520" y="63093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3C623"/>
                </a:solidFill>
              </a:rPr>
              <a:t>2026-08-01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03920" y="6309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DevSecOps 고도화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966960" y="63093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3C623"/>
                </a:solidFill>
              </a:rPr>
              <a:t>2026-08-15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881360" y="6309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프로젝트 완료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777240"/>
            <a:ext cx="12191695" cy="36576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10. 핵심 설계 원칙 &amp; 제약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</a:rPr>
              <a:t>Key Design Principles &amp;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96D6"/>
                </a:solidFill>
              </a:rPr>
              <a:t>RummiArena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D6"/>
                </a:solidFill>
              </a:rPr>
              <a:t>핵심 설계 원칙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743200" cy="201168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65760" cy="320040"/>
          </a:xfrm>
          <a:prstGeom prst="round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17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F5F"/>
                </a:solidFill>
              </a:rPr>
              <a:t>LLM 신뢰 금지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LLM은 행동 '제안'만 수행
Game Engine이 모든 유효성 검증
무효 시 재요청(3회) → 강제 드로우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371600"/>
            <a:ext cx="2743200" cy="201168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1417320"/>
            <a:ext cx="365760" cy="3200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417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B59B6"/>
                </a:solidFill>
              </a:rPr>
              <a:t>AI Adapter 분리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288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Game Engine은 특정 LLM에 의존 안 함
공통 인터페이스(MoveRequest/Response)
모델 교체 가능, Istio 트래픽 분배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2743200" cy="201168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1417320"/>
            <a:ext cx="365760" cy="320040"/>
          </a:xfrm>
          <a:prstGeom prst="roundRect">
            <a:avLst/>
          </a:prstGeom>
          <a:solidFill>
            <a:srgbClr val="00B8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417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88D"/>
                </a:solidFill>
              </a:rPr>
              <a:t>Stateless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8288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게임 상태는 Redis에 저장
Pod 재시작 시 게임 유지
Redis Pub/Sub로 수평 확장 대비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371600"/>
            <a:ext cx="2743200" cy="201168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89720" y="1417320"/>
            <a:ext cx="365760" cy="32004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920" y="1417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D6"/>
                </a:solidFill>
              </a:rPr>
              <a:t>GitOps + DevSecOps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8288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소스 repo ↔ GitOps repo 분리
ArgoCD Helm 기반 자동 배포
SonarQube + Trivy + ZAP 보안 게이트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88D"/>
                </a:solidFill>
              </a:rPr>
              <a:t>기술 스택 요약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931920"/>
            <a:ext cx="1371600" cy="13716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9502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96D6"/>
                </a:solidFill>
              </a:rPr>
              <a:t>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20624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Next.js
TailwindCSS
Framer Motion
dnd-kit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40" y="3931920"/>
            <a:ext cx="1371600" cy="13716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60" y="39502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88D"/>
                </a:solidFill>
              </a:rPr>
              <a:t>Backend
(game-server)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420624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Go
gin + gorilla/ws
GORM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3931920"/>
            <a:ext cx="1371600" cy="13716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39502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B59B6"/>
                </a:solidFill>
              </a:rPr>
              <a:t>Backend
(ai-adapter)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20624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NestJS
TypeScript
axios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46320" y="3931920"/>
            <a:ext cx="1371600" cy="13716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39502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6B35"/>
                </a:solidFill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420624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PostgreSQL 16
Redis 7
8 테이블
7 Redis 키 패턴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3931920"/>
            <a:ext cx="1371600" cy="13716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39502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B59B6"/>
                </a:solidFill>
              </a:rPr>
              <a:t>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20624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OpenAI API
Claude API
DeepSeek API
Ollama (LLaMA)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3931920"/>
            <a:ext cx="1371600" cy="13716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E0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39502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04F5F"/>
                </a:solidFill>
              </a:rPr>
              <a:t>Infra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420624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Docker Desktop K8s
Helm 3
ArgoCD
NGINX Ingress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40" y="3931920"/>
            <a:ext cx="1371600" cy="13716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81160" y="39502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C623"/>
                </a:solidFill>
              </a:rPr>
              <a:t>Quality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420624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SonarQube
Trivy
OWASP ZAP
k6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698480" y="3931920"/>
            <a:ext cx="1371600" cy="13716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44200" y="39502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96D6"/>
                </a:solidFill>
              </a:rPr>
              <a:t>Auth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420624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Google OAuth 2.0
JWT + RBAC
ADMIN / USER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161520" y="3931920"/>
            <a:ext cx="1371600" cy="13716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207240" y="395020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6B35"/>
                </a:solidFill>
              </a:rPr>
              <a:t>Notification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07240" y="420624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Kakao
Message API
게임 결과/알림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4F5F"/>
                </a:solidFill>
              </a:rPr>
              <a:t>주요 제약 사항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806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- RAM 16GB: 교대 실행 전략 필수, 모든 서비스 동시 실행 불가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080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- 1인 개발: 23주 10 Sprint, 2주 주기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806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- GPU 없음: Ollama 3B 이하 모델만 로컬 실행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6080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- LLM 비용: 일일 $10 한도, 호출 수 제한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777240"/>
            <a:ext cx="12191695" cy="36576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11. 폴리글랏 백엔드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</a:rPr>
              <a:t>Polyglot Backend: Go + NestJS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96D6"/>
                </a:solidFill>
              </a:rPr>
              <a:t>RummiArena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D6"/>
                </a:solidFill>
              </a:rPr>
              <a:t>기술 결정 (2026-03-11, Sprint 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303520" cy="164592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88D"/>
                </a:solidFill>
              </a:rPr>
              <a:t>game-server → Go (gin)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HTTP Framework: gin  |  WebSocket: gorilla/websocket  |  ORM: GORM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B88D"/>
                </a:solidFill>
              </a:rPr>
              <a:t>• goroutine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0574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WebSocket 연결당 경량 스레드, 메모리 효율적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B88D"/>
                </a:solidFill>
              </a:rPr>
              <a:t>• 성능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2860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게임 엔진(규칙 검증)은 CPU-bound → 컴파일 언어 유리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5146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B88D"/>
                </a:solidFill>
              </a:rPr>
              <a:t>• 이미지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5146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Docker scratch 빌드 ~15MB, Pod 기동 최소화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432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B88D"/>
                </a:solidFill>
              </a:rPr>
              <a:t>• K8s 네이티브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7432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Go는 K8s 생태계 표준 언어 → 실습 가치 높음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371600"/>
            <a:ext cx="5303520" cy="164592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59B6"/>
                </a:solidFill>
              </a:rPr>
              <a:t>ai-adapter → NestJS (TypeScript)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CCCC"/>
                </a:solidFill>
              </a:rPr>
              <a:t>Framework: NestJS  |  HTTP Client: axios  |  Validation: class-validator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0574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B59B6"/>
                </a:solidFill>
              </a:rPr>
              <a:t>• I/O-bound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0574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LLM API 호출은 대기 시간 → Node.js 비동기 모델 적합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2860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B59B6"/>
                </a:solidFill>
              </a:rPr>
              <a:t>• JSON/프롬프트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2860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TypeScript로 프롬프트 템플릿, JSON 조작 편리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5146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B59B6"/>
                </a:solidFill>
              </a:rPr>
              <a:t>• 타입 공유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5146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프론트엔드(Next.js)와 DTO/타입 공유 가능 (monorepo)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7432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B59B6"/>
                </a:solidFill>
              </a:rPr>
              <a:t>• 생태계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7432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class-validator, axios, Passport 등 풍부한 모듈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C623"/>
                </a:solidFill>
              </a:rPr>
              <a:t>서비스 구조 및 통신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611880"/>
            <a:ext cx="3657600" cy="292608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6576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88D"/>
                </a:solidFill>
              </a:rPr>
              <a:t>game-server (Go :8080)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023360"/>
            <a:ext cx="1188720" cy="320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B88D"/>
                </a:solidFill>
              </a:rPr>
              <a:t>handler/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40690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HTTP/WS 핸들러 (Controller)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407408"/>
            <a:ext cx="1188720" cy="320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B88D"/>
                </a:solidFill>
              </a:rPr>
              <a:t>service/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445312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비즈니스 로직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791456"/>
            <a:ext cx="1188720" cy="320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3C623"/>
                </a:solidFill>
              </a:rPr>
              <a:t>engine/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8371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Game Engine (규칙 검증)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175504"/>
            <a:ext cx="1188720" cy="320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96D6"/>
                </a:solidFill>
              </a:rPr>
              <a:t>repository/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522122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Redis + PostgreSQL 접근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559552"/>
            <a:ext cx="1188720" cy="320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CCCCC"/>
                </a:solidFill>
              </a:rPr>
              <a:t>model/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56052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도메인 모델 (Tile, Game, Player)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943600"/>
            <a:ext cx="1188720" cy="320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6B35"/>
                </a:solidFill>
              </a:rPr>
              <a:t>middleware/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5989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JWT Auth, CORS, Logger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3611880"/>
            <a:ext cx="3657600" cy="292608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09560" y="36576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B59B6"/>
                </a:solidFill>
              </a:rPr>
              <a:t>ai-adapter (NestJS :8081)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55279" y="4023360"/>
            <a:ext cx="1188720" cy="320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B59B6"/>
                </a:solidFill>
              </a:rPr>
              <a:t>adapter/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40690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LLM 어댑터 (OpenAI, Claude, ...)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55279" y="4407408"/>
            <a:ext cx="1188720" cy="320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3C623"/>
                </a:solidFill>
              </a:rPr>
              <a:t>prompt/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45312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PromptBuilder + Persona 템플릿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55279" y="4791456"/>
            <a:ext cx="1188720" cy="320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B59B6"/>
                </a:solidFill>
              </a:rPr>
              <a:t>parser/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48371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ResponseParser (JSON 파싱)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55279" y="5175504"/>
            <a:ext cx="1188720" cy="320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96D6"/>
                </a:solidFill>
              </a:rPr>
              <a:t>dto/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522122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MoveRequest / MoveResponse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55279" y="5559552"/>
            <a:ext cx="1188720" cy="320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B88D"/>
                </a:solidFill>
              </a:rPr>
              <a:t>health/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56052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헬스체크 엔드포인트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55279" y="5943600"/>
            <a:ext cx="1188720" cy="320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6B35"/>
                </a:solidFill>
              </a:rPr>
              <a:t>metrics/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5989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호출 로그 / 메트릭 수집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89120" y="4389120"/>
            <a:ext cx="3108960" cy="13716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26280" y="4434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3C623"/>
                </a:solidFill>
              </a:rPr>
              <a:t>서비스 간 통신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475488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• game-server → ai-adapter: REST (POST /api/ai/move)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0" y="498348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• ai-adapter → LLM APIs: HTTPS (외부)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521208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• game-server → Redis: 게임 상태 R/W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544068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• game-server → PostgreSQL: 결과/로그 영속화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4114800" y="5029200"/>
            <a:ext cx="274320" cy="0"/>
          </a:xfrm>
          <a:prstGeom prst="line">
            <a:avLst/>
          </a:prstGeom>
          <a:ln w="25400">
            <a:solidFill>
              <a:srgbClr val="00B8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498079" y="5029200"/>
            <a:ext cx="274321" cy="0"/>
          </a:xfrm>
          <a:prstGeom prst="line">
            <a:avLst/>
          </a:prstGeom>
          <a:ln w="25400">
            <a:solidFill>
              <a:srgbClr val="9B5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777240"/>
            <a:ext cx="12191695" cy="36576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12. CI/CD 파이프라인 &amp; 컨테이너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</a:rPr>
              <a:t>GitLab CI → ArgoCD → Kubernetes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96D6"/>
                </a:solidFill>
              </a:rPr>
              <a:t>RummiArena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D6"/>
                </a:solidFill>
              </a:rPr>
              <a:t>CI/CD 파이프라인 흐름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645920" cy="109728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CCCCC"/>
                </a:solidFill>
              </a:rPr>
              <a:t>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git push
GitLab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371600"/>
            <a:ext cx="1645920" cy="109728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6B35"/>
                </a:solidFill>
              </a:rPr>
              <a:t>GitLab CI
(Runner)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783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Lint
Test
Build
Scan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371600"/>
            <a:ext cx="1645920" cy="109728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C623"/>
                </a:solidFill>
              </a:rPr>
              <a:t>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783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Container
Image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371600"/>
            <a:ext cx="1645920" cy="109728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B59B6"/>
                </a:solidFill>
              </a:rPr>
              <a:t>GitOps Repo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783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Helm values
업데이트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371600"/>
            <a:ext cx="1645920" cy="109728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96D6"/>
                </a:solidFill>
              </a:rPr>
              <a:t>ArgoCD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1783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Sync
감지 → 배포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1371600"/>
            <a:ext cx="1645920" cy="109728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7000" y="14173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88D"/>
                </a:solidFill>
              </a:rPr>
              <a:t>Kubernetes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178308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Rolling
Update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103120" y="1920240"/>
            <a:ext cx="18288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931920" y="1920240"/>
            <a:ext cx="64008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217920" y="1920240"/>
            <a:ext cx="18288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46720" y="1920240"/>
            <a:ext cx="36576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058400" y="1920240"/>
            <a:ext cx="18288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B35"/>
                </a:solidFill>
              </a:rPr>
              <a:t>GitLab CI 스테이지 (.gitlab-ci.yml)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017520"/>
            <a:ext cx="5486400" cy="16459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0632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88D"/>
                </a:solidFill>
              </a:rPr>
              <a:t>game-server (Go) Pipeline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3383280"/>
            <a:ext cx="868680" cy="10972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3C623"/>
                </a:solidFill>
              </a:rPr>
              <a:t>lint
─────
golangci-lint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508760" y="3931920"/>
            <a:ext cx="137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645920" y="3383280"/>
            <a:ext cx="868680" cy="10972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096D6"/>
                </a:solidFill>
              </a:rPr>
              <a:t>test
─────
go test ./...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514600" y="3931920"/>
            <a:ext cx="137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651760" y="3383280"/>
            <a:ext cx="868680" cy="10972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0B88D"/>
                </a:solidFill>
              </a:rPr>
              <a:t>build
─────
go build
→ scratch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520440" y="3931920"/>
            <a:ext cx="137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657600" y="3383280"/>
            <a:ext cx="868680" cy="10972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E04F5F"/>
                </a:solidFill>
              </a:rPr>
              <a:t>scan
─────
Trivy
SonarQube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26280" y="3931920"/>
            <a:ext cx="137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663440" y="3383280"/>
            <a:ext cx="868680" cy="10972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6B35"/>
                </a:solidFill>
              </a:rPr>
              <a:t>push
─────
Registry
push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017520"/>
            <a:ext cx="5486400" cy="164592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30632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B59B6"/>
                </a:solidFill>
              </a:rPr>
              <a:t>ai-adapter (NestJS) Pipeline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3383280"/>
            <a:ext cx="868680" cy="10972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3C623"/>
                </a:solidFill>
              </a:rPr>
              <a:t>lint
─────
eslint
prettier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269480" y="3931920"/>
            <a:ext cx="137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406640" y="3383280"/>
            <a:ext cx="868680" cy="10972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096D6"/>
                </a:solidFill>
              </a:rPr>
              <a:t>test
─────
jest
--coverage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275320" y="3931920"/>
            <a:ext cx="137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412480" y="3383280"/>
            <a:ext cx="868680" cy="10972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9B59B6"/>
                </a:solidFill>
              </a:rPr>
              <a:t>build
─────
npm build
→ alpine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281160" y="3931920"/>
            <a:ext cx="137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418320" y="3383280"/>
            <a:ext cx="868680" cy="10972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E04F5F"/>
                </a:solidFill>
              </a:rPr>
              <a:t>scan
─────
Trivy
SonarQube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287000" y="3931920"/>
            <a:ext cx="137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10424160" y="3383280"/>
            <a:ext cx="868680" cy="10972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F6B35"/>
                </a:solidFill>
              </a:rPr>
              <a:t>push
─────
Registry
push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C623"/>
                </a:solidFill>
              </a:rPr>
              <a:t>컨테이너 구성 (Docker Images)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2120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C623"/>
                </a:solidFill>
              </a:rPr>
              <a:t>서비스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34640" y="52120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C623"/>
                </a:solidFill>
              </a:rPr>
              <a:t>기술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0" y="52120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C623"/>
                </a:solidFill>
              </a:rPr>
              <a:t>Base Image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59" y="52120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C623"/>
                </a:solidFill>
              </a:rPr>
              <a:t>이미지 크기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18320" y="5212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C623"/>
                </a:solidFill>
              </a:rPr>
              <a:t>포트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40080" y="5440680"/>
            <a:ext cx="10789920" cy="0"/>
          </a:xfrm>
          <a:prstGeom prst="line">
            <a:avLst/>
          </a:prstGeom>
          <a:ln w="6350">
            <a:solidFill>
              <a:srgbClr val="4444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40080" y="54864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0096D6"/>
                </a:solidFill>
              </a:rPr>
              <a:t>frontend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34640" y="54864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Next.js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0" y="54864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node:20-alpine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23759" y="54864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~250MB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18320" y="54864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3000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568756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00B88D"/>
                </a:solidFill>
              </a:rPr>
              <a:t>game-server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34640" y="568756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Go (gin)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0" y="568756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golang → scratch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59" y="568756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~15MB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20" y="568756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8080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" y="588873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9B59B6"/>
                </a:solidFill>
              </a:rPr>
              <a:t>ai-adapter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34640" y="588873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NestJS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0" y="588873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node:20-alpine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3759" y="588873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~200MB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418320" y="588873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8081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608990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0096D6"/>
                </a:solidFill>
              </a:rPr>
              <a:t>admin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34640" y="608990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Next.js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0" y="608990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node:20-alpine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23759" y="608990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~200MB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418320" y="608990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3001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62910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E04F5F"/>
                </a:solidFill>
              </a:rPr>
              <a:t>redis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34640" y="62910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Redis 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0" y="62910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redis:7-alpine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23759" y="62910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~30MB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418320" y="62910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6379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0080" y="64922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F6B35"/>
                </a:solidFill>
              </a:rPr>
              <a:t>postgres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834640" y="64922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PostgreSQL 16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0" y="64922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postgres:16-alpine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23759" y="64922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~80MB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18320" y="64922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5432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66934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F3C623"/>
                </a:solidFill>
              </a:rPr>
              <a:t>ollama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34640" y="66934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Ollama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029200" y="66934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ollama/ollama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223759" y="66934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~1.2GB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418320" y="669340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11434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1B1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777240"/>
            <a:ext cx="12191695" cy="36576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13. 게임 복기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</a:rPr>
              <a:t>Post-Game Replay with 4-Split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37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0096D6"/>
                </a:solidFill>
              </a:rPr>
              <a:t>RummiArena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D6"/>
                </a:solidFill>
              </a:rPr>
              <a:t>실시간 플레이 vs 복기 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303520" cy="182880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88D"/>
                </a:solidFill>
              </a:rPr>
              <a:t>실시간 플레이: 1인칭 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B88D"/>
                </a:solidFill>
              </a:rPr>
              <a:t>• 내 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7830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공개 (드래그&amp;드롭 조작)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391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04F5F"/>
                </a:solidFill>
              </a:rPr>
              <a:t>• 상대 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03911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비공개 (타일 수만 표시)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951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C623"/>
                </a:solidFill>
              </a:rPr>
              <a:t>• 드로우 타일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29514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본인만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55117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99999"/>
                </a:solidFill>
              </a:rPr>
              <a:t>• AI 판단 근거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55117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비공개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8072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CCCC"/>
                </a:solidFill>
              </a:rPr>
              <a:t>• 테이블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80720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공개 (공유 영역)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371600"/>
            <a:ext cx="5303520" cy="1828800"/>
          </a:xfrm>
          <a:prstGeom prst="roundRect">
            <a:avLst/>
          </a:prstGeom>
          <a:solidFill>
            <a:srgbClr val="272744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B59B6"/>
                </a:solidFill>
              </a:rPr>
              <a:t>게임 복기: 4분할 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783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B88D"/>
                </a:solidFill>
              </a:rPr>
              <a:t>• 내 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7830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전체 공개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B59B6"/>
                </a:solidFill>
              </a:rPr>
              <a:t>• 상대 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03911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전체 공개 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29514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9B59B6"/>
                </a:solidFill>
              </a:rPr>
              <a:t>• 드로우 타일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29514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전체 공개 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55117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C623"/>
                </a:solidFill>
              </a:rPr>
              <a:t>• AI 판단 근거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255117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오버레이로 공개 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8072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CCCCC"/>
                </a:solidFill>
              </a:rPr>
              <a:t>• 테이블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280720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CCCC"/>
                </a:solidFill>
              </a:rPr>
              <a:t>공개 (턴별 변화 추적)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C623"/>
                </a:solidFill>
              </a:rPr>
              <a:t>복기 데이터 흐름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749039"/>
            <a:ext cx="2011680" cy="91440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B8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3794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B88D"/>
                </a:solidFill>
              </a:rPr>
              <a:t>턴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069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매 턴 완료 시
스냅샷 생성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3749039"/>
            <a:ext cx="2011680" cy="91440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8920" y="3794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96D6"/>
                </a:solidFill>
              </a:rPr>
              <a:t>game_snapshots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4069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PostgreSQL 저장
(비동기)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0" y="3749039"/>
            <a:ext cx="2011680" cy="91440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3794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B59B6"/>
                </a:solidFill>
              </a:rPr>
              <a:t>Replay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4069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GET /games/:id
/replay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3749039"/>
            <a:ext cx="2011680" cy="91440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3C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20" y="3794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C623"/>
                </a:solidFill>
              </a:rPr>
              <a:t>4분할 렌더링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4069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전체 정보 공개
턴별 재생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01200" y="3749039"/>
            <a:ext cx="2011680" cy="914400"/>
          </a:xfrm>
          <a:prstGeom prst="roundRect">
            <a:avLst/>
          </a:prstGeom>
          <a:solidFill>
            <a:srgbClr val="272744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46920" y="3794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6B35"/>
                </a:solidFill>
              </a:rPr>
              <a:t>전략 분석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6920" y="4069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</a:rPr>
              <a:t>AI별 비교
LLM 판단 근거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468880" y="4206240"/>
            <a:ext cx="27432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54880" y="4206240"/>
            <a:ext cx="27432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040880" y="4206240"/>
            <a:ext cx="27432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326880" y="4206240"/>
            <a:ext cx="274320" cy="0"/>
          </a:xfrm>
          <a:prstGeom prst="line">
            <a:avLst/>
          </a:prstGeom>
          <a:ln w="254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5720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6D6"/>
                </a:solidFill>
              </a:rPr>
              <a:t>game_snapshots 테이블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5212080"/>
            <a:ext cx="6858000" cy="13716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009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5257800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0096D6"/>
                </a:solidFill>
              </a:rPr>
              <a:t>game_id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0" y="5257800"/>
            <a:ext cx="4846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UUID FK → games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" y="5413248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0096D6"/>
                </a:solidFill>
              </a:rPr>
              <a:t>turn_number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86000" y="5413248"/>
            <a:ext cx="4846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INTEGER (턴 번호)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5568696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0096D6"/>
                </a:solidFill>
              </a:rPr>
              <a:t>acting_seat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86000" y="5568696"/>
            <a:ext cx="4846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INTEGER (행동 플레이어)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5724144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0096D6"/>
                </a:solidFill>
              </a:rPr>
              <a:t>action_type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86000" y="5724144"/>
            <a:ext cx="4846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PLACE_TILES / DRAW / REARRANGE / TIMEOUT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" y="5879592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0096D6"/>
                </a:solidFill>
              </a:rPr>
              <a:t>action_detail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86000" y="5879592"/>
            <a:ext cx="4846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JSONB (배치 타일, 드로우 타일 상세)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" y="6035040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0096D6"/>
                </a:solidFill>
              </a:rPr>
              <a:t>player_hands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0" y="6035040"/>
            <a:ext cx="4846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JSONB (각 seat별 패 - 복기 시 공개)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" y="6190488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0096D6"/>
                </a:solidFill>
              </a:rPr>
              <a:t>table_state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000" y="6190488"/>
            <a:ext cx="4846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JSONB (테이블 위 세트들)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" y="6345936"/>
            <a:ext cx="16459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0096D6"/>
                </a:solidFill>
              </a:rPr>
              <a:t>ai_decision_log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86000" y="6345936"/>
            <a:ext cx="484632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CCCCC"/>
                </a:solidFill>
              </a:rPr>
              <a:t>TEXT (AI 판단 근거 요약)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B59B6"/>
                </a:solidFill>
              </a:rPr>
              <a:t>Replay API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772400" y="5212080"/>
            <a:ext cx="3931920" cy="1371600"/>
          </a:xfrm>
          <a:prstGeom prst="roundRect">
            <a:avLst/>
          </a:prstGeom>
          <a:solidFill>
            <a:srgbClr val="1E1E36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909560" y="5349240"/>
            <a:ext cx="457200" cy="2286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12480" y="534924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CCCCC"/>
                </a:solidFill>
              </a:rPr>
              <a:t>/games/:id/replay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12480" y="551383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전체 스냅샷 목록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909560" y="5715000"/>
            <a:ext cx="457200" cy="2286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12480" y="57150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CCCCC"/>
                </a:solidFill>
              </a:rPr>
              <a:t>/games/:id/replay/turns/:n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12480" y="58795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특정 턴 스냅샷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909560" y="6080760"/>
            <a:ext cx="457200" cy="2286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0" y="608076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CCCCC"/>
                </a:solidFill>
              </a:rPr>
              <a:t>/games/:id/replay/summary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624535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복기 요약/핵심 전환점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09560" y="6400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99999"/>
                </a:solidFill>
              </a:rPr>
              <a:t>보관: 90일 → 자동 아카이브  |  게임당 30~80 스냅샷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